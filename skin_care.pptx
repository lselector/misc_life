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9066"/>
    <p:restoredTop sz="94711"/>
  </p:normalViewPr>
  <p:slideViewPr>
    <p:cSldViewPr snapToGrid="0" snapToObjects="1">
      <p:cViewPr varScale="1">
        <p:scale>
          <a:sx n="80" d="100"/>
          <a:sy n="80" d="100"/>
        </p:scale>
        <p:origin x="1096" y="48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617FC4D-2BBA-E842-954B-5415457B8C8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49890047-279B-2342-AC6A-9E8395479096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9E95468-90B2-5B4D-B150-87EECDE0FAB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E373148-7F87-594F-8980-70E55AA588E3}" type="datetimeFigureOut">
              <a:t>2/8/26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686C71F-CDB3-A648-BD34-085BADE8638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49B83C4-ABBD-D847-8016-698E40E0029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B1889D-6089-524B-9CDF-FA6B413E792F}" type="slidenum"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0155745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83B8492-2766-8A4B-9C9C-146E0BE1D6D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35E28B4-A155-8F49-859F-B01A075C655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29EAA47-C1C4-ED4B-B428-906635612F1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E373148-7F87-594F-8980-70E55AA588E3}" type="datetimeFigureOut">
              <a:t>2/8/26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45404A9-0C7C-1F4D-B1F3-FE1D977F82E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97A2174-AC0C-044F-97D4-9C3DB3A1113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B1889D-6089-524B-9CDF-FA6B413E792F}" type="slidenum"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8803933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CE33C0A-E2CD-BA41-9493-5DC34BC793A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EAE0F38-2BE8-F249-9233-5105022FEBA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A6C2E3A-247C-1743-ABE4-0A51A530FBE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E373148-7F87-594F-8980-70E55AA588E3}" type="datetimeFigureOut">
              <a:t>2/8/26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B3A7AFC-A2BB-2D4A-87F6-DBFE184FFFD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CCB0FF5-358E-2546-A2AC-B95327E5BA7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B1889D-6089-524B-9CDF-FA6B413E792F}" type="slidenum"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665039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EFABFE1-767D-3441-A8B4-BF14C7F56D8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5BB6D2A-9AB7-F84D-8745-10F5F53AC6B9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8C243E43-109D-B741-910B-5E3D1797688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E2E637A1-EB43-0448-A9DD-A923FFA3AB7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E373148-7F87-594F-8980-70E55AA588E3}" type="datetimeFigureOut">
              <a:t>2/8/26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B843A69D-C4EA-C743-87EF-7A7BE274888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AC09BC4-1F5D-674B-A24C-57F557FAFD3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B1889D-6089-524B-9CDF-FA6B413E792F}" type="slidenum"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3044619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48A3D7B-6DD1-2549-87A3-C07A7C25D61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5E93652-E056-154D-AADC-85FDC5D44A5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60F582C4-B27B-CF4E-9EDB-CBC15955F96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A18AA780-277A-3840-A875-19677484920F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6412A0C9-FB04-BE46-8FB8-21E9EDACBB2F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A07149FB-DD81-0146-94CD-F85C6E877C3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E373148-7F87-594F-8980-70E55AA588E3}" type="datetimeFigureOut">
              <a:t>2/8/26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3DEEFC72-8267-FF46-A3BA-9C790C87BCE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4959234C-54C5-644E-8AE5-E72AC386F40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B1889D-6089-524B-9CDF-FA6B413E792F}" type="slidenum"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2463608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771EF39-8B2C-594B-B44A-F3A37E875AC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0076DE46-CD6D-2243-A157-21E8373FFFF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E373148-7F87-594F-8980-70E55AA588E3}" type="datetimeFigureOut">
              <a:t>2/8/26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33900738-C42D-8344-9BB7-CBA33984D2D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AAA1A819-8541-4D43-AE1D-B9F033AC6F2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B1889D-6089-524B-9CDF-FA6B413E792F}" type="slidenum"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3801063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B56A12F9-ACCB-8C45-A8DA-C4413A51CA1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E373148-7F87-594F-8980-70E55AA588E3}" type="datetimeFigureOut">
              <a:t>2/8/26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3F0155ED-CD88-8044-9071-EDDB70AB1AF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801791C-DA99-D14C-AB8B-EC3AF2576F8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B1889D-6089-524B-9CDF-FA6B413E792F}" type="slidenum"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4141020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0B24787-CC63-8343-A931-05C8481DCA3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5905326-61B5-8E4D-AE0B-E5EEBD8E820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50E35487-287C-D844-B4AE-8A4005216938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2C585F78-0756-6742-9B40-8927B377016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E373148-7F87-594F-8980-70E55AA588E3}" type="datetimeFigureOut">
              <a:t>2/8/26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E090264-FE2D-914B-8A35-19885CCA412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5F7D380C-B34D-4F44-84C9-C4E371D7F71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B1889D-6089-524B-9CDF-FA6B413E792F}" type="slidenum"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4031134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F478A3E-87C5-6D47-A5C8-41EA3F6DE45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DA116EF0-F0A2-564C-A7E6-FA53D934D95A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019C226D-6222-BF4C-97A5-A06D2338CD66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65E10DA3-1A84-234D-9820-990456AB47A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E373148-7F87-594F-8980-70E55AA588E3}" type="datetimeFigureOut">
              <a:t>2/8/26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83D73718-67EA-3D4E-AFDC-F136C42CCF7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D2879B9-40A6-154C-A697-9C0903E79E8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B1889D-6089-524B-9CDF-FA6B413E792F}" type="slidenum"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096394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76C05EE-41CB-7C4A-A3EE-C617C0F4087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232D74B5-DCAD-E547-9229-CE13010CC14B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F109297-A864-4949-BEE2-5A77BA23E4D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E373148-7F87-594F-8980-70E55AA588E3}" type="datetimeFigureOut">
              <a:t>2/8/26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7169238-257C-6643-9F64-9829213F6D6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9733BA3-C67E-0447-9134-3D5DD929D50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B1889D-6089-524B-9CDF-FA6B413E792F}" type="slidenum"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8439168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FAF22D26-790D-2646-A84E-699C193508A3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492492A5-753F-2F43-8D36-9B5CB80BB254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F72891F-0B71-864B-B895-D26D71D141A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E373148-7F87-594F-8980-70E55AA588E3}" type="datetimeFigureOut">
              <a:t>2/8/26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130926A-A387-084E-8934-53881CFB2F7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624C7FA-0F11-AA42-A9B2-BC30FCA910C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B1889D-6089-524B-9CDF-FA6B413E792F}" type="slidenum"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8245117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E282D5B6-C136-4743-978A-C79A32051FF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1F4F64D-2FA1-5142-991A-EBF708C8D5F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12EABCC-9D43-EE44-8087-8AE97BB02725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E373148-7F87-594F-8980-70E55AA588E3}" type="datetimeFigureOut">
              <a:t>2/8/26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2402658-F5A6-2E41-98B6-BC22D1F8BFDD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FE24714-FD98-2E40-AEB2-FD364CE72410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8B1889D-6089-524B-9CDF-FA6B413E792F}" type="slidenum"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3951933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youtube.com/watch?v=miINdRepAvQ" TargetMode="External"/><Relationship Id="rId2" Type="http://schemas.openxmlformats.org/officeDocument/2006/relationships/hyperlink" Target="https://www.youtube.com/@sapiscience" TargetMode="Externa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43987D61-8E15-FB40-BE70-A7F8DB0EEC2C}"/>
              </a:ext>
            </a:extLst>
          </p:cNvPr>
          <p:cNvSpPr txBox="1"/>
          <p:nvPr/>
        </p:nvSpPr>
        <p:spPr>
          <a:xfrm>
            <a:off x="0" y="-57804"/>
            <a:ext cx="5118537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b="1" dirty="0"/>
              <a:t>Skin Care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072034E5-7053-304A-ACB4-937FC0BE6CD0}"/>
              </a:ext>
            </a:extLst>
          </p:cNvPr>
          <p:cNvSpPr txBox="1"/>
          <p:nvPr/>
        </p:nvSpPr>
        <p:spPr>
          <a:xfrm>
            <a:off x="183274" y="513758"/>
            <a:ext cx="7164011" cy="5478423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  <a:ln>
            <a:solidFill>
              <a:srgbClr val="FF0000"/>
            </a:solidFill>
          </a:ln>
        </p:spPr>
        <p:txBody>
          <a:bodyPr wrap="square" rtlCol="0">
            <a:spAutoFit/>
          </a:bodyPr>
          <a:lstStyle/>
          <a:p>
            <a:r>
              <a:rPr lang="en-US" sz="1400" dirty="0"/>
              <a:t>Skin Hydration: Evidence-Based Dermatology</a:t>
            </a:r>
          </a:p>
          <a:p>
            <a:r>
              <a:rPr lang="en-US" sz="1400" dirty="0"/>
              <a:t>For Hydration we need 3 things:</a:t>
            </a:r>
          </a:p>
          <a:p>
            <a:endParaRPr lang="en-US" sz="1400" dirty="0"/>
          </a:p>
          <a:p>
            <a:r>
              <a:rPr lang="en-US" sz="1400" dirty="0"/>
              <a:t>1. a cleanser that doesn't dry out the skin</a:t>
            </a:r>
          </a:p>
          <a:p>
            <a:r>
              <a:rPr lang="en-US" sz="1400" dirty="0"/>
              <a:t>2. a serum. In a serum for humectants—things that draw water to the skin—and emollients, which soften the skin and reduce moisture loss</a:t>
            </a:r>
          </a:p>
          <a:p>
            <a:r>
              <a:rPr lang="en-US" sz="1400" dirty="0"/>
              <a:t>3. a cream with occlusive ingredients to "seal in" this whole cocktail</a:t>
            </a:r>
          </a:p>
          <a:p>
            <a:endParaRPr lang="en-US" sz="1400" dirty="0"/>
          </a:p>
          <a:p>
            <a:r>
              <a:rPr lang="en-US" sz="1400" dirty="0"/>
              <a:t>Hyaluronic acid, specifically with different molecular weights. High-molecular-weight stays on the surface, while low-molecular-weight works deeper inside</a:t>
            </a:r>
          </a:p>
          <a:p>
            <a:endParaRPr lang="en-US" sz="1400" dirty="0"/>
          </a:p>
          <a:p>
            <a:r>
              <a:rPr lang="en-US" sz="1400" dirty="0"/>
              <a:t>Glycerin, Panthenol, Sorbitol, Betaine, and low-concentration Urea</a:t>
            </a:r>
          </a:p>
          <a:p>
            <a:endParaRPr lang="en-US" sz="1400" dirty="0"/>
          </a:p>
          <a:p>
            <a:r>
              <a:rPr lang="en-US" sz="1400" dirty="0"/>
              <a:t>Emollients: Squalane, ceramides, cholesterol, and fatty alcohols</a:t>
            </a:r>
          </a:p>
          <a:p>
            <a:endParaRPr lang="en-US" sz="1400" dirty="0"/>
          </a:p>
          <a:p>
            <a:r>
              <a:rPr lang="en-US" sz="1400" dirty="0"/>
              <a:t>Occlusives: Dimethicone and polyethylene glycol (PEG) act as those sealing components</a:t>
            </a:r>
          </a:p>
          <a:p>
            <a:endParaRPr lang="en-US" sz="1400" dirty="0"/>
          </a:p>
          <a:p>
            <a:r>
              <a:rPr lang="en-US" sz="1400" dirty="0"/>
              <a:t>Look for low-concentration acids in these products because at concentrations under 5%, they actually act as humectants. This is important.</a:t>
            </a:r>
          </a:p>
          <a:p>
            <a:endParaRPr lang="en-US" sz="1400" dirty="0"/>
          </a:p>
          <a:p>
            <a:r>
              <a:rPr lang="en-US" sz="1400" dirty="0"/>
              <a:t>Example: a serum with multi-molecular hyaluronic acid and 5% lactic acid. Apply at night and top with a cream containing urea, hyaluronic acid, and panthenol</a:t>
            </a:r>
          </a:p>
          <a:p>
            <a:endParaRPr lang="en-US" sz="1400" dirty="0"/>
          </a:p>
          <a:p>
            <a:r>
              <a:rPr lang="en-US" sz="1400" dirty="0"/>
              <a:t>Take a break from Niacinamide, high-strength acids,  Vitamin C, and Retinol. Instead, apply this hydrating stack at night.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5C663F5B-8FE9-AE69-E719-2F0FAF55A5D6}"/>
              </a:ext>
            </a:extLst>
          </p:cNvPr>
          <p:cNvSpPr txBox="1"/>
          <p:nvPr/>
        </p:nvSpPr>
        <p:spPr>
          <a:xfrm>
            <a:off x="7844589" y="465416"/>
            <a:ext cx="4164137" cy="523220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  <a:ln>
            <a:solidFill>
              <a:srgbClr val="FF0000"/>
            </a:solidFill>
          </a:ln>
        </p:spPr>
        <p:txBody>
          <a:bodyPr wrap="square" rtlCol="0">
            <a:spAutoFit/>
          </a:bodyPr>
          <a:lstStyle/>
          <a:p>
            <a:r>
              <a:rPr lang="en-US" sz="1400" dirty="0"/>
              <a:t> - </a:t>
            </a:r>
            <a:r>
              <a:rPr lang="en-US" sz="1400" dirty="0">
                <a:hlinkClick r:id="rId2"/>
              </a:rPr>
              <a:t>https://www.youtube.com/@sapiscience</a:t>
            </a:r>
            <a:br>
              <a:rPr lang="en-US" sz="1400" dirty="0"/>
            </a:br>
            <a:r>
              <a:rPr lang="en-US" sz="1400" dirty="0"/>
              <a:t> - </a:t>
            </a:r>
            <a:r>
              <a:rPr lang="en-US" sz="1400" dirty="0">
                <a:hlinkClick r:id="rId3"/>
              </a:rPr>
              <a:t>https://www.youtube.com/watch?v=miINdRepAvQ</a:t>
            </a:r>
            <a:endParaRPr lang="en-US" sz="1400"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EB9C2BE2-D3CA-354E-9BCA-47FA505D24A1}"/>
              </a:ext>
            </a:extLst>
          </p:cNvPr>
          <p:cNvSpPr txBox="1"/>
          <p:nvPr/>
        </p:nvSpPr>
        <p:spPr>
          <a:xfrm>
            <a:off x="7828545" y="2984538"/>
            <a:ext cx="4164137" cy="3323987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  <a:ln>
            <a:solidFill>
              <a:srgbClr val="FF0000"/>
            </a:solidFill>
          </a:ln>
        </p:spPr>
        <p:txBody>
          <a:bodyPr wrap="square" rtlCol="0">
            <a:spAutoFit/>
          </a:bodyPr>
          <a:lstStyle/>
          <a:p>
            <a:r>
              <a:rPr lang="en-US" sz="1400" dirty="0"/>
              <a:t>For small children:</a:t>
            </a:r>
          </a:p>
          <a:p>
            <a:endParaRPr lang="en-US" sz="1400" dirty="0"/>
          </a:p>
          <a:p>
            <a:r>
              <a:rPr lang="en-US" sz="1400" dirty="0"/>
              <a:t>step 1 - CeraVe Hydrating Facial Cleanser with warm water</a:t>
            </a:r>
          </a:p>
          <a:p>
            <a:r>
              <a:rPr lang="en-US" sz="1400" dirty="0"/>
              <a:t>step 2 - CeraVe Baby Moisturizing Cream (Combined Hydration + Occlusion)</a:t>
            </a:r>
          </a:p>
          <a:p>
            <a:endParaRPr lang="en-US" sz="1400" dirty="0"/>
          </a:p>
          <a:p>
            <a:r>
              <a:rPr lang="en-US" sz="1400" dirty="0"/>
              <a:t>Or:</a:t>
            </a:r>
          </a:p>
          <a:p>
            <a:r>
              <a:rPr lang="en-US" sz="1400" dirty="0"/>
              <a:t>- Aveeno Kids Sensitive Skin Face &amp; Body Gel Cream </a:t>
            </a:r>
          </a:p>
          <a:p>
            <a:r>
              <a:rPr lang="en-US" sz="1400" dirty="0"/>
              <a:t>- Step 2 </a:t>
            </a:r>
            <a:r>
              <a:rPr lang="en-US" sz="1400" dirty="0" err="1"/>
              <a:t>Vanicream</a:t>
            </a:r>
            <a:r>
              <a:rPr lang="en-US" sz="1400" dirty="0"/>
              <a:t> Moisturizing Cream </a:t>
            </a:r>
          </a:p>
          <a:p>
            <a:endParaRPr lang="en-US" sz="1400" dirty="0"/>
          </a:p>
          <a:p>
            <a:r>
              <a:rPr lang="en-US" sz="1400" dirty="0"/>
              <a:t>The all-in-one moisturizer approach provides humectants (hyaluronic acid, glycerin), emollients (ceramides, fatty acids), and gentle occlusion in a single pediatric-safe product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AFAE4277-CBA4-9E35-2FBF-729303D93F40}"/>
              </a:ext>
            </a:extLst>
          </p:cNvPr>
          <p:cNvSpPr txBox="1"/>
          <p:nvPr/>
        </p:nvSpPr>
        <p:spPr>
          <a:xfrm>
            <a:off x="7828546" y="1186368"/>
            <a:ext cx="4164137" cy="1600438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  <a:ln>
            <a:solidFill>
              <a:srgbClr val="FF0000"/>
            </a:solidFill>
          </a:ln>
        </p:spPr>
        <p:txBody>
          <a:bodyPr wrap="square" rtlCol="0">
            <a:spAutoFit/>
          </a:bodyPr>
          <a:lstStyle/>
          <a:p>
            <a:r>
              <a:rPr lang="en-US" sz="1400" dirty="0"/>
              <a:t>CeraVe Hydrating Facial Cleanser</a:t>
            </a:r>
          </a:p>
          <a:p>
            <a:r>
              <a:rPr lang="en-US" sz="1400" dirty="0" err="1"/>
              <a:t>Vanicream</a:t>
            </a:r>
            <a:r>
              <a:rPr lang="en-US" sz="1400" dirty="0"/>
              <a:t> Gentle Facial Cleanser</a:t>
            </a:r>
          </a:p>
          <a:p>
            <a:r>
              <a:rPr lang="en-US" sz="1400" dirty="0"/>
              <a:t>=================================</a:t>
            </a:r>
          </a:p>
          <a:p>
            <a:r>
              <a:rPr lang="en-US" sz="1400" dirty="0"/>
              <a:t>The Ordinary Lactic Acid 5% + HA</a:t>
            </a:r>
          </a:p>
          <a:p>
            <a:r>
              <a:rPr lang="en-US" sz="1400" dirty="0"/>
              <a:t>=================================</a:t>
            </a:r>
          </a:p>
          <a:p>
            <a:r>
              <a:rPr lang="en-US" sz="1400" dirty="0"/>
              <a:t>CeraVe Intensive Moisturizing Lotion</a:t>
            </a:r>
          </a:p>
          <a:p>
            <a:r>
              <a:rPr lang="en-US" sz="1400" dirty="0"/>
              <a:t>Eucerin Advanced Repair Cream </a:t>
            </a:r>
          </a:p>
        </p:txBody>
      </p:sp>
    </p:spTree>
    <p:extLst>
      <p:ext uri="{BB962C8B-B14F-4D97-AF65-F5344CB8AC3E}">
        <p14:creationId xmlns:p14="http://schemas.microsoft.com/office/powerpoint/2010/main" val="2860300633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81</TotalTime>
  <Words>327</Words>
  <Application>Microsoft Macintosh PowerPoint</Application>
  <PresentationFormat>Widescreen</PresentationFormat>
  <Paragraphs>39</Paragraphs>
  <Slides>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5" baseType="lpstr">
      <vt:lpstr>Arial</vt:lpstr>
      <vt:lpstr>Calibri</vt:lpstr>
      <vt:lpstr>Calibri Light</vt:lpstr>
      <vt:lpstr>Office Theme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Lev Selector</dc:creator>
  <cp:lastModifiedBy>Lev Selector</cp:lastModifiedBy>
  <cp:revision>4</cp:revision>
  <dcterms:created xsi:type="dcterms:W3CDTF">2022-03-02T15:12:43Z</dcterms:created>
  <dcterms:modified xsi:type="dcterms:W3CDTF">2026-02-08T13:56:23Z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MSIP_Label_4f518368-b969-4042-91d9-8939bd921da2_Enabled">
    <vt:lpwstr>true</vt:lpwstr>
  </property>
  <property fmtid="{D5CDD505-2E9C-101B-9397-08002B2CF9AE}" pid="3" name="MSIP_Label_4f518368-b969-4042-91d9-8939bd921da2_SetDate">
    <vt:lpwstr>2022-03-02T15:12:44Z</vt:lpwstr>
  </property>
  <property fmtid="{D5CDD505-2E9C-101B-9397-08002B2CF9AE}" pid="4" name="MSIP_Label_4f518368-b969-4042-91d9-8939bd921da2_Method">
    <vt:lpwstr>Standard</vt:lpwstr>
  </property>
  <property fmtid="{D5CDD505-2E9C-101B-9397-08002B2CF9AE}" pid="5" name="MSIP_Label_4f518368-b969-4042-91d9-8939bd921da2_Name">
    <vt:lpwstr>General</vt:lpwstr>
  </property>
  <property fmtid="{D5CDD505-2E9C-101B-9397-08002B2CF9AE}" pid="6" name="MSIP_Label_4f518368-b969-4042-91d9-8939bd921da2_SiteId">
    <vt:lpwstr>116e9905-19fc-428e-93d4-bcaffb833597</vt:lpwstr>
  </property>
  <property fmtid="{D5CDD505-2E9C-101B-9397-08002B2CF9AE}" pid="7" name="MSIP_Label_4f518368-b969-4042-91d9-8939bd921da2_ActionId">
    <vt:lpwstr>4bdac7c4-a109-4592-8edf-03602692ffc4</vt:lpwstr>
  </property>
  <property fmtid="{D5CDD505-2E9C-101B-9397-08002B2CF9AE}" pid="8" name="MSIP_Label_4f518368-b969-4042-91d9-8939bd921da2_ContentBits">
    <vt:lpwstr>0</vt:lpwstr>
  </property>
</Properties>
</file>