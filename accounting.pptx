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5"/>
  </p:notesMasterIdLst>
  <p:sldIdLst>
    <p:sldId id="296" r:id="rId2"/>
    <p:sldId id="297" r:id="rId3"/>
    <p:sldId id="29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1"/>
    <p:restoredTop sz="92313"/>
  </p:normalViewPr>
  <p:slideViewPr>
    <p:cSldViewPr snapToGrid="0" snapToObjects="1">
      <p:cViewPr varScale="1">
        <p:scale>
          <a:sx n="118" d="100"/>
          <a:sy n="118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813476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757065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3758179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154942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46810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1540789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742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54285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394066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828818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9934429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12/10/22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815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counting_standard" TargetMode="External"/><Relationship Id="rId2" Type="http://schemas.openxmlformats.org/officeDocument/2006/relationships/hyperlink" Target="https://en.wikipedia.org/wiki/Accounti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International_Accounting_Standards_Board" TargetMode="External"/><Relationship Id="rId5" Type="http://schemas.openxmlformats.org/officeDocument/2006/relationships/hyperlink" Target="https://en.wikipedia.org/wiki/IFRS_Foundation" TargetMode="External"/><Relationship Id="rId4" Type="http://schemas.openxmlformats.org/officeDocument/2006/relationships/hyperlink" Target="https://en.wikipedia.org/wiki/International_Financial_Reporting_Standard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basicaccountingconcepts.education/making-sense-of-debits-and-credits-in-accounting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VhwZ9t2b3Zk" TargetMode="External"/><Relationship Id="rId4" Type="http://schemas.openxmlformats.org/officeDocument/2006/relationships/hyperlink" Target="https://www.youtube.com/watch?v=COOBti0xp0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mallbusiness.chron.com/financial-treatment-assets-given-business-426.htmlhttps:/smallbusiness.chron.com/financial-treatment-assets-given-business-426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72A975-345E-4744-AC48-210D71FDE633}"/>
              </a:ext>
            </a:extLst>
          </p:cNvPr>
          <p:cNvSpPr txBox="1"/>
          <p:nvPr/>
        </p:nvSpPr>
        <p:spPr>
          <a:xfrm>
            <a:off x="120713" y="120713"/>
            <a:ext cx="2302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Accounting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DAB67-8E7D-C885-6BBC-42324BCE493A}"/>
              </a:ext>
            </a:extLst>
          </p:cNvPr>
          <p:cNvSpPr txBox="1"/>
          <p:nvPr/>
        </p:nvSpPr>
        <p:spPr>
          <a:xfrm>
            <a:off x="120713" y="612533"/>
            <a:ext cx="5755652" cy="56938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Accounting</a:t>
            </a:r>
            <a:r>
              <a:rPr lang="en-US" sz="1400" dirty="0"/>
              <a:t> = keeping or preparation of the financial records of transactions of the firm, the analysis, verification and reporting of such records - </a:t>
            </a:r>
            <a:r>
              <a:rPr lang="en-US" sz="1400" dirty="0">
                <a:hlinkClick r:id="rId2"/>
              </a:rPr>
              <a:t>https://en.wikipedia.org/wiki/Accounting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Double-entry bookkeeping</a:t>
            </a:r>
            <a:r>
              <a:rPr lang="en-US" sz="1400" dirty="0"/>
              <a:t> - Jewish community of the early-medieval Middle 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first published work on a double-entry bookkeeping system was the Summa de </a:t>
            </a:r>
            <a:r>
              <a:rPr lang="en-US" sz="1400" dirty="0" err="1"/>
              <a:t>arithmetica</a:t>
            </a:r>
            <a:r>
              <a:rPr lang="en-US" sz="1400" dirty="0"/>
              <a:t>, published in Italy in 1494 by Luca </a:t>
            </a:r>
            <a:r>
              <a:rPr lang="en-US" sz="1400" dirty="0" err="1"/>
              <a:t>Pacioli</a:t>
            </a:r>
            <a:r>
              <a:rPr lang="en-US" sz="1400" dirty="0"/>
              <a:t> (the "Father of Accounting")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GAAP</a:t>
            </a:r>
            <a:r>
              <a:rPr lang="en-US" sz="1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= Generally Accepted Accounting Principles</a:t>
            </a:r>
            <a:br>
              <a:rPr lang="en-US" sz="1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1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3"/>
              </a:rPr>
              <a:t>https://</a:t>
            </a:r>
            <a:r>
              <a:rPr lang="en-US" sz="14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3"/>
              </a:rPr>
              <a:t>en.wikipedia.org</a:t>
            </a:r>
            <a:r>
              <a:rPr lang="en-US" sz="1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3"/>
              </a:rPr>
              <a:t>/wiki/</a:t>
            </a:r>
            <a:r>
              <a:rPr lang="en-US" sz="14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3"/>
              </a:rPr>
              <a:t>Accounting_standard</a:t>
            </a:r>
            <a:endParaRPr lang="en-US" sz="1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IFRS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International Financial Reporting Standards</a:t>
            </a:r>
            <a:b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  <a:hlinkClick r:id="rId4"/>
              </a:rPr>
              <a:t>https://</a:t>
            </a:r>
            <a:r>
              <a:rPr lang="en-US" sz="1400" dirty="0" err="1">
                <a:solidFill>
                  <a:srgbClr val="202122"/>
                </a:solidFill>
                <a:latin typeface="Arial" panose="020B0604020202020204" pitchFamily="34" charset="0"/>
                <a:hlinkClick r:id="rId4"/>
              </a:rPr>
              <a:t>en.wikipedia.org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  <a:hlinkClick r:id="rId4"/>
              </a:rPr>
              <a:t>/wiki/</a:t>
            </a:r>
            <a:r>
              <a:rPr lang="en-US" sz="1400" dirty="0" err="1">
                <a:solidFill>
                  <a:srgbClr val="202122"/>
                </a:solidFill>
                <a:latin typeface="Arial" panose="020B0604020202020204" pitchFamily="34" charset="0"/>
                <a:hlinkClick r:id="rId4"/>
              </a:rPr>
              <a:t>International_Financial_Reporting_Standards</a:t>
            </a:r>
            <a:endParaRPr lang="en-US" sz="1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IFRS Foundation</a:t>
            </a:r>
            <a:b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  <a:hlinkClick r:id="rId5"/>
              </a:rPr>
              <a:t>https://</a:t>
            </a:r>
            <a:r>
              <a:rPr lang="en-US" sz="1400" dirty="0" err="1">
                <a:solidFill>
                  <a:srgbClr val="202122"/>
                </a:solidFill>
                <a:latin typeface="Arial" panose="020B0604020202020204" pitchFamily="34" charset="0"/>
                <a:hlinkClick r:id="rId5"/>
              </a:rPr>
              <a:t>en.wikipedia.org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  <a:hlinkClick r:id="rId5"/>
              </a:rPr>
              <a:t>/wiki/</a:t>
            </a:r>
            <a:r>
              <a:rPr lang="en-US" sz="1400" dirty="0" err="1">
                <a:solidFill>
                  <a:srgbClr val="202122"/>
                </a:solidFill>
                <a:latin typeface="Arial" panose="020B0604020202020204" pitchFamily="34" charset="0"/>
                <a:hlinkClick r:id="rId5"/>
              </a:rPr>
              <a:t>IFRS_Foundation</a:t>
            </a:r>
            <a:endParaRPr lang="en-US" sz="1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IASB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International Accounting Standards Board</a:t>
            </a:r>
            <a:b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  <a:hlinkClick r:id="rId6"/>
              </a:rPr>
              <a:t>https://</a:t>
            </a:r>
            <a:r>
              <a:rPr lang="en-US" sz="1400" dirty="0" err="1">
                <a:solidFill>
                  <a:srgbClr val="202122"/>
                </a:solidFill>
                <a:latin typeface="Arial" panose="020B0604020202020204" pitchFamily="34" charset="0"/>
                <a:hlinkClick r:id="rId6"/>
              </a:rPr>
              <a:t>en.wikipedia.org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  <a:hlinkClick r:id="rId6"/>
              </a:rPr>
              <a:t>/wiki/</a:t>
            </a:r>
            <a:r>
              <a:rPr lang="en-US" sz="1400" dirty="0" err="1">
                <a:solidFill>
                  <a:srgbClr val="202122"/>
                </a:solidFill>
                <a:latin typeface="Arial" panose="020B0604020202020204" pitchFamily="34" charset="0"/>
                <a:hlinkClick r:id="rId6"/>
              </a:rPr>
              <a:t>International_Accounting_Standards_Board</a:t>
            </a:r>
            <a:endParaRPr lang="en-US" sz="1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CIMA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Chartered Institute of Management Accountants (UK)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CGMA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Chartered Global Management Accountant (qualification by CIMA)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AICPA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American Institute of Certified Public Accountants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Auditing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verification, "unbiased examination and evaluation"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Tax accounting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(in US) preparation/analysis of tax returns/payments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Forensic accounting (disputes, litigations)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E3759-3936-DA51-10BD-CD60227B3105}"/>
              </a:ext>
            </a:extLst>
          </p:cNvPr>
          <p:cNvSpPr txBox="1"/>
          <p:nvPr/>
        </p:nvSpPr>
        <p:spPr>
          <a:xfrm>
            <a:off x="6315635" y="612533"/>
            <a:ext cx="575565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IFAC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International Federation of Accountants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ICAS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Institute of Chartered Accountants of Scotland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ICAP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Institute of Chartered Accountants of Pakistan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CPA Australia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ICAI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Institute of Chartered Accountants of India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ACCA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 = Association of Chartered Certified Accountants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ICAEW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Institute of Chartered Accountants in England and Wales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Institute of management accountants in the United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CPA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(Certified Public Accountant) – by (AICPA)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Chartered Accountant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Big Five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accounting firms:</a:t>
            </a:r>
            <a:b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.. Arthur Andersen (no more after Enron scandal)</a:t>
            </a:r>
            <a:b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.. Deloitte</a:t>
            </a:r>
            <a:b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.. Ernst &amp; Young</a:t>
            </a:r>
            <a:b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.. KPMG</a:t>
            </a:r>
            <a:b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</a:br>
            <a:r>
              <a:rPr 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.. PricewaterhouseCoopers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IAESB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International Accounting Education Standards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IPSASB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International Public Sector Accounting Standards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FASB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 = Financial Accounting Standards Board (in 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FRC</a:t>
            </a:r>
            <a:r>
              <a:rPr lang="en-US" sz="1400" dirty="0">
                <a:solidFill>
                  <a:srgbClr val="202122"/>
                </a:solidFill>
                <a:latin typeface="Arial" panose="020B0604020202020204" pitchFamily="34" charset="0"/>
              </a:rPr>
              <a:t> = Financial Reporting Council (in UK)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22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72A975-345E-4744-AC48-210D71FDE633}"/>
              </a:ext>
            </a:extLst>
          </p:cNvPr>
          <p:cNvSpPr txBox="1"/>
          <p:nvPr/>
        </p:nvSpPr>
        <p:spPr>
          <a:xfrm>
            <a:off x="120713" y="120713"/>
            <a:ext cx="6549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Double-Entry Bookkeeping / accounting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DAB67-8E7D-C885-6BBC-42324BCE493A}"/>
              </a:ext>
            </a:extLst>
          </p:cNvPr>
          <p:cNvSpPr txBox="1"/>
          <p:nvPr/>
        </p:nvSpPr>
        <p:spPr>
          <a:xfrm>
            <a:off x="120713" y="664407"/>
            <a:ext cx="5975287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2"/>
              </a:rPr>
              <a:t>https://</a:t>
            </a:r>
            <a:r>
              <a:rPr lang="en-US" sz="1100" dirty="0" err="1">
                <a:hlinkClick r:id="rId2"/>
              </a:rPr>
              <a:t>www.basicaccountingconcepts.education</a:t>
            </a:r>
            <a:r>
              <a:rPr lang="en-US" sz="1100" dirty="0">
                <a:hlinkClick r:id="rId2"/>
              </a:rPr>
              <a:t>/making-sense-of-debits-and-credits-in-accounting/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4E332-BD8F-FD39-DD94-46C1C7964D1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0274" y="4235187"/>
            <a:ext cx="2104985" cy="8595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E659D6-A1E1-AF45-752B-CD3BC389A9DD}"/>
              </a:ext>
            </a:extLst>
          </p:cNvPr>
          <p:cNvSpPr txBox="1"/>
          <p:nvPr/>
        </p:nvSpPr>
        <p:spPr>
          <a:xfrm>
            <a:off x="4899247" y="2559201"/>
            <a:ext cx="3108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 a business takes out a bank loan for $10,000, recording the transaction would require a debit of $10,000 to an asset account called "Cash", as well as a credit of $10,000 to a liability account called "Notes Payable".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3D07CA-3F04-DEFA-BC2F-2F034FDDFE7E}"/>
              </a:ext>
            </a:extLst>
          </p:cNvPr>
          <p:cNvSpPr txBox="1"/>
          <p:nvPr/>
        </p:nvSpPr>
        <p:spPr>
          <a:xfrm>
            <a:off x="120713" y="1046689"/>
            <a:ext cx="4184587" cy="50475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All financial transactions has a flow </a:t>
            </a:r>
          </a:p>
          <a:p>
            <a:r>
              <a:rPr lang="en-US" sz="1400" dirty="0"/>
              <a:t>from a </a:t>
            </a:r>
            <a:r>
              <a:rPr lang="en-US" sz="1400" b="1" dirty="0">
                <a:solidFill>
                  <a:srgbClr val="FF0000"/>
                </a:solidFill>
              </a:rPr>
              <a:t>source (Credit) </a:t>
            </a:r>
            <a:r>
              <a:rPr lang="en-US" sz="1400" dirty="0"/>
              <a:t>to a </a:t>
            </a:r>
            <a:r>
              <a:rPr lang="en-US" sz="1400" b="1" dirty="0">
                <a:solidFill>
                  <a:srgbClr val="FF0000"/>
                </a:solidFill>
              </a:rPr>
              <a:t>destination ()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Debit</a:t>
            </a:r>
            <a:r>
              <a:rPr lang="en-US" sz="1400" dirty="0"/>
              <a:t> and </a:t>
            </a:r>
            <a:r>
              <a:rPr lang="en-US" sz="1400" b="1" dirty="0">
                <a:solidFill>
                  <a:srgbClr val="FF0000"/>
                </a:solidFill>
              </a:rPr>
              <a:t>Credit</a:t>
            </a:r>
            <a:r>
              <a:rPr lang="en-US" sz="1400" dirty="0"/>
              <a:t> has no relationship with the concepts of positive/negative. So </a:t>
            </a:r>
            <a:r>
              <a:rPr lang="en-US" sz="1400" b="1" dirty="0">
                <a:solidFill>
                  <a:srgbClr val="FF0000"/>
                </a:solidFill>
              </a:rPr>
              <a:t>Credit</a:t>
            </a:r>
            <a:r>
              <a:rPr lang="en-US" sz="1400" dirty="0"/>
              <a:t> may be negative, and </a:t>
            </a:r>
            <a:r>
              <a:rPr lang="en-US" sz="1400" b="1" dirty="0">
                <a:solidFill>
                  <a:srgbClr val="FF0000"/>
                </a:solidFill>
              </a:rPr>
              <a:t>Debit</a:t>
            </a:r>
            <a:r>
              <a:rPr lang="en-US" sz="1400" dirty="0"/>
              <a:t> – positive.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transaction in </a:t>
            </a:r>
            <a:r>
              <a:rPr lang="en-US" sz="1400" b="1" dirty="0">
                <a:solidFill>
                  <a:srgbClr val="FF0000"/>
                </a:solidFill>
              </a:rPr>
              <a:t>double-entry bookkeeping </a:t>
            </a:r>
            <a:r>
              <a:rPr lang="en-US" sz="1400" dirty="0"/>
              <a:t>always include </a:t>
            </a:r>
            <a:r>
              <a:rPr lang="en-US" sz="1400" b="1" dirty="0">
                <a:solidFill>
                  <a:srgbClr val="00B050"/>
                </a:solidFill>
              </a:rPr>
              <a:t>at least two accounts.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purpose of </a:t>
            </a:r>
            <a:r>
              <a:rPr lang="en-US" sz="1400" b="1" dirty="0">
                <a:solidFill>
                  <a:srgbClr val="FF0000"/>
                </a:solidFill>
              </a:rPr>
              <a:t>double-entry bookkeeping </a:t>
            </a:r>
            <a:r>
              <a:rPr lang="en-US" sz="1400" dirty="0"/>
              <a:t>is to </a:t>
            </a:r>
            <a:r>
              <a:rPr lang="en-US" sz="1400" b="1" dirty="0">
                <a:solidFill>
                  <a:srgbClr val="00B050"/>
                </a:solidFill>
              </a:rPr>
              <a:t>help detect financial errors and fraud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totals of debits and credits should be maintained equal.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Note: having balance doesn't guarantee a lack of errors. The ledger may still "balance" even if the wrong ledger accounts have been debited or credited.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entries may occur in asset, liability, equity, expense, or revenue accounts.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Accounting equation: 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    Assets = Liabilities + Equity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    A = L + E</a:t>
            </a: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FCCEF-2B2B-9A25-BDC1-60D6E72925CA}"/>
              </a:ext>
            </a:extLst>
          </p:cNvPr>
          <p:cNvSpPr txBox="1"/>
          <p:nvPr/>
        </p:nvSpPr>
        <p:spPr>
          <a:xfrm>
            <a:off x="8601234" y="1720510"/>
            <a:ext cx="3217809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Double-entry Accounting and Bookkeeping principles explained in simple terms</a:t>
            </a:r>
          </a:p>
          <a:p>
            <a:r>
              <a:rPr lang="en-US" sz="1100" dirty="0"/>
              <a:t>.. </a:t>
            </a:r>
            <a:r>
              <a:rPr lang="en-US" sz="1100" dirty="0">
                <a:hlinkClick r:id="rId4"/>
              </a:rPr>
              <a:t>https://</a:t>
            </a:r>
            <a:r>
              <a:rPr lang="en-US" sz="1100" dirty="0" err="1">
                <a:hlinkClick r:id="rId4"/>
              </a:rPr>
              <a:t>www.youtube.com</a:t>
            </a:r>
            <a:r>
              <a:rPr lang="en-US" sz="1100" dirty="0">
                <a:hlinkClick r:id="rId4"/>
              </a:rPr>
              <a:t>/</a:t>
            </a:r>
            <a:r>
              <a:rPr lang="en-US" sz="1100" dirty="0" err="1">
                <a:hlinkClick r:id="rId4"/>
              </a:rPr>
              <a:t>watch?v</a:t>
            </a:r>
            <a:r>
              <a:rPr lang="en-US" sz="1100" dirty="0">
                <a:hlinkClick r:id="rId4"/>
              </a:rPr>
              <a:t>=COOBti0xp0o</a:t>
            </a:r>
            <a:endParaRPr lang="en-US" sz="1100" dirty="0"/>
          </a:p>
          <a:p>
            <a:endParaRPr lang="en-US" sz="1100" dirty="0"/>
          </a:p>
          <a:p>
            <a:r>
              <a:rPr lang="en-US" sz="1400" dirty="0"/>
              <a:t>ACCOUNTING BASICS: Debits and Credits Explained</a:t>
            </a:r>
          </a:p>
          <a:p>
            <a:r>
              <a:rPr lang="en-US" sz="1100" dirty="0"/>
              <a:t>.. </a:t>
            </a:r>
            <a:r>
              <a:rPr lang="en-US" sz="1100" dirty="0">
                <a:hlinkClick r:id="rId5"/>
              </a:rPr>
              <a:t>https://</a:t>
            </a:r>
            <a:r>
              <a:rPr lang="en-US" sz="1100" dirty="0" err="1">
                <a:hlinkClick r:id="rId5"/>
              </a:rPr>
              <a:t>www.youtube.com</a:t>
            </a:r>
            <a:r>
              <a:rPr lang="en-US" sz="1100" dirty="0">
                <a:hlinkClick r:id="rId5"/>
              </a:rPr>
              <a:t>/</a:t>
            </a:r>
            <a:r>
              <a:rPr lang="en-US" sz="1100" dirty="0" err="1">
                <a:hlinkClick r:id="rId5"/>
              </a:rPr>
              <a:t>watch?v</a:t>
            </a:r>
            <a:r>
              <a:rPr lang="en-US" sz="1100" dirty="0">
                <a:hlinkClick r:id="rId5"/>
              </a:rPr>
              <a:t>=VhwZ9t2b3Zk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580FC-3CAB-6DA3-78FA-C4056958759C}"/>
              </a:ext>
            </a:extLst>
          </p:cNvPr>
          <p:cNvSpPr txBox="1"/>
          <p:nvPr/>
        </p:nvSpPr>
        <p:spPr>
          <a:xfrm>
            <a:off x="4582886" y="1774371"/>
            <a:ext cx="1143000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Credit </a:t>
            </a:r>
            <a:br>
              <a:rPr lang="en-US" sz="1400" dirty="0"/>
            </a:br>
            <a:r>
              <a:rPr lang="en-US" sz="1400" dirty="0"/>
              <a:t>Account 1</a:t>
            </a:r>
          </a:p>
          <a:p>
            <a:pPr algn="ctr"/>
            <a:r>
              <a:rPr lang="en-US" sz="1400" dirty="0"/>
              <a:t>(giver)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53A64-9646-1DB4-4BA8-63B64B315174}"/>
              </a:ext>
            </a:extLst>
          </p:cNvPr>
          <p:cNvSpPr txBox="1"/>
          <p:nvPr/>
        </p:nvSpPr>
        <p:spPr>
          <a:xfrm>
            <a:off x="6677786" y="1774371"/>
            <a:ext cx="1143000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Debit </a:t>
            </a:r>
            <a:br>
              <a:rPr lang="en-US" sz="1400" dirty="0"/>
            </a:br>
            <a:r>
              <a:rPr lang="en-US" sz="1400" dirty="0"/>
              <a:t>Account 2</a:t>
            </a:r>
          </a:p>
          <a:p>
            <a:pPr algn="ctr"/>
            <a:r>
              <a:rPr lang="en-US" sz="1400" dirty="0"/>
              <a:t>(receiver)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3831C1-572D-16B6-0CF1-02052A69A92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5725886" y="2143703"/>
            <a:ext cx="95190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053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72A975-345E-4744-AC48-210D71FDE633}"/>
              </a:ext>
            </a:extLst>
          </p:cNvPr>
          <p:cNvSpPr txBox="1"/>
          <p:nvPr/>
        </p:nvSpPr>
        <p:spPr>
          <a:xfrm>
            <a:off x="1" y="37047"/>
            <a:ext cx="3670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Double-Entry 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701440-79B6-BE51-66F5-F036168CF8EF}"/>
              </a:ext>
            </a:extLst>
          </p:cNvPr>
          <p:cNvSpPr txBox="1"/>
          <p:nvPr/>
        </p:nvSpPr>
        <p:spPr>
          <a:xfrm>
            <a:off x="6096000" y="85836"/>
            <a:ext cx="6013899" cy="27392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Golden rules of accounting: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Personal account</a:t>
            </a:r>
            <a:r>
              <a:rPr lang="en-US" sz="1400" dirty="0"/>
              <a:t>: </a:t>
            </a:r>
            <a:br>
              <a:rPr lang="en-US" sz="1400" dirty="0"/>
            </a:br>
            <a:r>
              <a:rPr lang="en-US" sz="1400" dirty="0">
                <a:solidFill>
                  <a:srgbClr val="00B0F0"/>
                </a:solidFill>
              </a:rPr>
              <a:t>Debit the receiver (person) and credit the giver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Real account </a:t>
            </a:r>
            <a:br>
              <a:rPr lang="en-US" sz="1400" b="1" dirty="0">
                <a:solidFill>
                  <a:srgbClr val="FF0000"/>
                </a:solidFill>
              </a:rPr>
            </a:br>
            <a:r>
              <a:rPr lang="en-US" sz="1400" dirty="0"/>
              <a:t>.. tangible – can touch: building, inventory, cash, ...</a:t>
            </a:r>
            <a:br>
              <a:rPr lang="en-US" sz="1400" dirty="0"/>
            </a:br>
            <a:r>
              <a:rPr lang="en-US" sz="1400" dirty="0"/>
              <a:t>.. </a:t>
            </a:r>
            <a:r>
              <a:rPr lang="en-US" sz="1400" dirty="0" err="1"/>
              <a:t>intagible</a:t>
            </a:r>
            <a:r>
              <a:rPr lang="en-US" sz="1400" dirty="0"/>
              <a:t> - </a:t>
            </a:r>
            <a:r>
              <a:rPr lang="en-US" sz="1400" i="0" dirty="0">
                <a:effectLst/>
              </a:rPr>
              <a:t>Goodwill, Patent, Copyright, Trademark</a:t>
            </a:r>
            <a:br>
              <a:rPr lang="en-US" sz="1400" i="0" dirty="0">
                <a:effectLst/>
              </a:rPr>
            </a:br>
            <a:r>
              <a:rPr lang="en-US" sz="1400" dirty="0">
                <a:solidFill>
                  <a:srgbClr val="00B0F0"/>
                </a:solidFill>
              </a:rPr>
              <a:t>Debit what comes in and credit what goes out. Example: </a:t>
            </a:r>
            <a:r>
              <a:rPr lang="en-US" sz="1400" i="0" dirty="0">
                <a:solidFill>
                  <a:srgbClr val="00B0F0"/>
                </a:solidFill>
                <a:effectLst/>
                <a:latin typeface="Minion Pro"/>
              </a:rPr>
              <a:t>Furniture purchased by cash. Debit furniture acct, and credit cash acct.</a:t>
            </a:r>
            <a:endParaRPr lang="en-US" sz="1400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Nominal account</a:t>
            </a:r>
            <a:r>
              <a:rPr lang="en-US" sz="1400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(income or gains, expenses or losses – for example: – Rent, commission received, salary, wages, conveyance, etc.</a:t>
            </a:r>
            <a:br>
              <a:rPr lang="en-US" sz="1400" dirty="0"/>
            </a:br>
            <a:r>
              <a:rPr lang="en-US" sz="1400" dirty="0">
                <a:solidFill>
                  <a:srgbClr val="00B0F0"/>
                </a:solidFill>
              </a:rPr>
              <a:t>Debit all expenses &amp; losses and credit all incomes &amp; gains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D6C0D3-9AE3-58BD-50A6-67C5BEAEF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649349"/>
              </p:ext>
            </p:extLst>
          </p:nvPr>
        </p:nvGraphicFramePr>
        <p:xfrm>
          <a:off x="6109395" y="3622837"/>
          <a:ext cx="2379891" cy="13912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3396">
                  <a:extLst>
                    <a:ext uri="{9D8B030D-6E8A-4147-A177-3AD203B41FA5}">
                      <a16:colId xmlns:a16="http://schemas.microsoft.com/office/drawing/2014/main" val="1785501621"/>
                    </a:ext>
                  </a:extLst>
                </a:gridCol>
                <a:gridCol w="725419">
                  <a:extLst>
                    <a:ext uri="{9D8B030D-6E8A-4147-A177-3AD203B41FA5}">
                      <a16:colId xmlns:a16="http://schemas.microsoft.com/office/drawing/2014/main" val="1150955745"/>
                    </a:ext>
                  </a:extLst>
                </a:gridCol>
                <a:gridCol w="951076">
                  <a:extLst>
                    <a:ext uri="{9D8B030D-6E8A-4147-A177-3AD203B41FA5}">
                      <a16:colId xmlns:a16="http://schemas.microsoft.com/office/drawing/2014/main" val="323145973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Account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to increase</a:t>
                      </a:r>
                    </a:p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balance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to decrease </a:t>
                      </a:r>
                    </a:p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balance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24798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Assets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Debit</a:t>
                      </a:r>
                      <a:endParaRPr lang="en-US" sz="1200" b="0" i="0" u="none" strike="noStrike" dirty="0">
                        <a:solidFill>
                          <a:srgbClr val="00B05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Credit</a:t>
                      </a: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11892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Liabilities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Credit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Debit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296776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Revenue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Credit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Debit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98258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Expenses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Debit</a:t>
                      </a:r>
                      <a:endParaRPr lang="en-US" sz="1200" b="0" i="0" u="none" strike="noStrike" dirty="0">
                        <a:solidFill>
                          <a:srgbClr val="00B05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Credit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46602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Equity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2060"/>
                          </a:solidFill>
                          <a:effectLst/>
                        </a:rPr>
                        <a:t>Credit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Debit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92036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520246D-37BD-CEC6-FB68-BF93C163697F}"/>
              </a:ext>
            </a:extLst>
          </p:cNvPr>
          <p:cNvSpPr txBox="1"/>
          <p:nvPr/>
        </p:nvSpPr>
        <p:spPr>
          <a:xfrm>
            <a:off x="82100" y="1349731"/>
            <a:ext cx="3557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Example: you receive a refund of $200.00 for an overpaid electric bill. Here is how to enter this transaction properly: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E520CC5-0C8C-94FC-286C-B0D628DE2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302491"/>
              </p:ext>
            </p:extLst>
          </p:nvPr>
        </p:nvGraphicFramePr>
        <p:xfrm>
          <a:off x="3549419" y="1423993"/>
          <a:ext cx="1836276" cy="5772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394">
                  <a:extLst>
                    <a:ext uri="{9D8B030D-6E8A-4147-A177-3AD203B41FA5}">
                      <a16:colId xmlns:a16="http://schemas.microsoft.com/office/drawing/2014/main" val="1785501621"/>
                    </a:ext>
                  </a:extLst>
                </a:gridCol>
                <a:gridCol w="426051">
                  <a:extLst>
                    <a:ext uri="{9D8B030D-6E8A-4147-A177-3AD203B41FA5}">
                      <a16:colId xmlns:a16="http://schemas.microsoft.com/office/drawing/2014/main" val="1150955745"/>
                    </a:ext>
                  </a:extLst>
                </a:gridCol>
                <a:gridCol w="733831">
                  <a:extLst>
                    <a:ext uri="{9D8B030D-6E8A-4147-A177-3AD203B41FA5}">
                      <a16:colId xmlns:a16="http://schemas.microsoft.com/office/drawing/2014/main" val="3231459737"/>
                    </a:ext>
                  </a:extLst>
                </a:gridCol>
              </a:tblGrid>
              <a:tr h="18263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Account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Debit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Credit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2479806"/>
                  </a:ext>
                </a:extLst>
              </a:tr>
              <a:tr h="18263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Cash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B0F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1189213"/>
                  </a:ext>
                </a:extLst>
              </a:tr>
              <a:tr h="17293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Utilities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296776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0CFBE1A-5E03-885D-4953-25023C684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99973"/>
              </p:ext>
            </p:extLst>
          </p:nvPr>
        </p:nvGraphicFramePr>
        <p:xfrm>
          <a:off x="3549419" y="2093579"/>
          <a:ext cx="2230105" cy="10863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424">
                  <a:extLst>
                    <a:ext uri="{9D8B030D-6E8A-4147-A177-3AD203B41FA5}">
                      <a16:colId xmlns:a16="http://schemas.microsoft.com/office/drawing/2014/main" val="1785501621"/>
                    </a:ext>
                  </a:extLst>
                </a:gridCol>
                <a:gridCol w="516835">
                  <a:extLst>
                    <a:ext uri="{9D8B030D-6E8A-4147-A177-3AD203B41FA5}">
                      <a16:colId xmlns:a16="http://schemas.microsoft.com/office/drawing/2014/main" val="1150955745"/>
                    </a:ext>
                  </a:extLst>
                </a:gridCol>
                <a:gridCol w="569846">
                  <a:extLst>
                    <a:ext uri="{9D8B030D-6E8A-4147-A177-3AD203B41FA5}">
                      <a16:colId xmlns:a16="http://schemas.microsoft.com/office/drawing/2014/main" val="3231459737"/>
                    </a:ext>
                  </a:extLst>
                </a:gridCol>
              </a:tblGrid>
              <a:tr h="17261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Account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Debit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Credit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2479806"/>
                  </a:ext>
                </a:extLst>
              </a:tr>
              <a:tr h="17261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Transportation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B0F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1189213"/>
                  </a:ext>
                </a:extLst>
              </a:tr>
              <a:tr h="23385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</a:rPr>
                        <a:t>Accommodation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225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2967761"/>
                  </a:ext>
                </a:extLst>
              </a:tr>
              <a:tr h="23385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T Sans" panose="020B0503020203020204" pitchFamily="34" charset="77"/>
                        </a:rPr>
                        <a:t>Meals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75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8539681"/>
                  </a:ext>
                </a:extLst>
              </a:tr>
              <a:tr h="233859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T Sans" panose="020B0503020203020204" pitchFamily="34" charset="77"/>
                        </a:rPr>
                        <a:t>Cash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872391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826694A-37FF-C47C-404B-CB60DCE8263F}"/>
              </a:ext>
            </a:extLst>
          </p:cNvPr>
          <p:cNvSpPr txBox="1"/>
          <p:nvPr/>
        </p:nvSpPr>
        <p:spPr>
          <a:xfrm>
            <a:off x="82099" y="2137521"/>
            <a:ext cx="2752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Example: entering travel expenses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17042B-39C4-1ECD-BBFD-033AACAAE654}"/>
              </a:ext>
            </a:extLst>
          </p:cNvPr>
          <p:cNvSpPr txBox="1"/>
          <p:nvPr/>
        </p:nvSpPr>
        <p:spPr>
          <a:xfrm>
            <a:off x="82100" y="4371926"/>
            <a:ext cx="3557116" cy="24314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Handling Donations:</a:t>
            </a:r>
            <a:endParaRPr lang="en-US" sz="1100" dirty="0">
              <a:hlinkClick r:id="rId2"/>
            </a:endParaRPr>
          </a:p>
          <a:p>
            <a:r>
              <a:rPr lang="en-US" sz="1100" dirty="0">
                <a:hlinkClick r:id="rId2"/>
              </a:rPr>
              <a:t>https://smallbusiness.chron.com/financial-treatment-assets-given-business-426.html</a:t>
            </a:r>
            <a:endParaRPr lang="en-US" sz="1100" dirty="0"/>
          </a:p>
          <a:p>
            <a:endParaRPr lang="en-US" sz="1400" dirty="0"/>
          </a:p>
          <a:p>
            <a:r>
              <a:rPr lang="en-US" sz="1400" dirty="0"/>
              <a:t>Donations – for-profit company: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credit to "Contribution Revenue"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debit to "Fixed Asset"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Donations - Not-for-Profit company: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credit to "Unrestricted Contributions"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debit to "Expense"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0113D-E72C-6184-4980-B8ED7F10551C}"/>
              </a:ext>
            </a:extLst>
          </p:cNvPr>
          <p:cNvSpPr txBox="1"/>
          <p:nvPr/>
        </p:nvSpPr>
        <p:spPr>
          <a:xfrm>
            <a:off x="6096000" y="3248673"/>
            <a:ext cx="3685426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Accounts are usually divided into 5 groups: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E1969A-1330-A94B-BB20-855C837E3C53}"/>
              </a:ext>
            </a:extLst>
          </p:cNvPr>
          <p:cNvSpPr txBox="1"/>
          <p:nvPr/>
        </p:nvSpPr>
        <p:spPr>
          <a:xfrm>
            <a:off x="82100" y="560267"/>
            <a:ext cx="3557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Example: you receive $200 from a friend.</a:t>
            </a:r>
          </a:p>
          <a:p>
            <a:r>
              <a:rPr lang="en-US" sz="1400" dirty="0"/>
              <a:t>Friend is a source (credit), your bank account is a destination (debit).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133BBD9-18F0-3F8A-5360-409C5A9B9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429877"/>
              </p:ext>
            </p:extLst>
          </p:nvPr>
        </p:nvGraphicFramePr>
        <p:xfrm>
          <a:off x="3560402" y="560267"/>
          <a:ext cx="1836276" cy="760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394">
                  <a:extLst>
                    <a:ext uri="{9D8B030D-6E8A-4147-A177-3AD203B41FA5}">
                      <a16:colId xmlns:a16="http://schemas.microsoft.com/office/drawing/2014/main" val="1785501621"/>
                    </a:ext>
                  </a:extLst>
                </a:gridCol>
                <a:gridCol w="426051">
                  <a:extLst>
                    <a:ext uri="{9D8B030D-6E8A-4147-A177-3AD203B41FA5}">
                      <a16:colId xmlns:a16="http://schemas.microsoft.com/office/drawing/2014/main" val="1150955745"/>
                    </a:ext>
                  </a:extLst>
                </a:gridCol>
                <a:gridCol w="733831">
                  <a:extLst>
                    <a:ext uri="{9D8B030D-6E8A-4147-A177-3AD203B41FA5}">
                      <a16:colId xmlns:a16="http://schemas.microsoft.com/office/drawing/2014/main" val="3231459737"/>
                    </a:ext>
                  </a:extLst>
                </a:gridCol>
              </a:tblGrid>
              <a:tr h="1556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Account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Debit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Credit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2479806"/>
                  </a:ext>
                </a:extLst>
              </a:tr>
              <a:tr h="1556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Cash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B0F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1189213"/>
                  </a:ext>
                </a:extLst>
              </a:tr>
              <a:tr h="28748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Liability (friend)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2967761"/>
                  </a:ext>
                </a:extLst>
              </a:tr>
            </a:tbl>
          </a:graphicData>
        </a:graphic>
      </p:graphicFrame>
      <p:pic>
        <p:nvPicPr>
          <p:cNvPr id="4" name="Picture 2" descr="Debits and credits in action">
            <a:extLst>
              <a:ext uri="{FF2B5EF4-FFF2-40B4-BE49-F238E27FC236}">
                <a16:creationId xmlns:a16="http://schemas.microsoft.com/office/drawing/2014/main" id="{AF6ADF4E-25E2-79D1-CE16-065D7ED0EB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578186" y="3622837"/>
            <a:ext cx="3519279" cy="310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727647-F0CE-F0A1-C9B9-CFB2C4D508ED}"/>
              </a:ext>
            </a:extLst>
          </p:cNvPr>
          <p:cNvSpPr txBox="1"/>
          <p:nvPr/>
        </p:nvSpPr>
        <p:spPr>
          <a:xfrm>
            <a:off x="82096" y="3272337"/>
            <a:ext cx="2752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Example: donation to non-profit</a:t>
            </a:r>
          </a:p>
          <a:p>
            <a:r>
              <a:rPr lang="en-US" sz="1400" dirty="0"/>
              <a:t>(donor pays fees)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0B22819-BF74-473A-4E01-C0B1793CD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713956"/>
              </p:ext>
            </p:extLst>
          </p:nvPr>
        </p:nvGraphicFramePr>
        <p:xfrm>
          <a:off x="2848734" y="3323137"/>
          <a:ext cx="2878270" cy="9028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1866">
                  <a:extLst>
                    <a:ext uri="{9D8B030D-6E8A-4147-A177-3AD203B41FA5}">
                      <a16:colId xmlns:a16="http://schemas.microsoft.com/office/drawing/2014/main" val="3139960542"/>
                    </a:ext>
                  </a:extLst>
                </a:gridCol>
                <a:gridCol w="1295953">
                  <a:extLst>
                    <a:ext uri="{9D8B030D-6E8A-4147-A177-3AD203B41FA5}">
                      <a16:colId xmlns:a16="http://schemas.microsoft.com/office/drawing/2014/main" val="2299812152"/>
                    </a:ext>
                  </a:extLst>
                </a:gridCol>
                <a:gridCol w="445318">
                  <a:extLst>
                    <a:ext uri="{9D8B030D-6E8A-4147-A177-3AD203B41FA5}">
                      <a16:colId xmlns:a16="http://schemas.microsoft.com/office/drawing/2014/main" val="1588065074"/>
                    </a:ext>
                  </a:extLst>
                </a:gridCol>
                <a:gridCol w="455133">
                  <a:extLst>
                    <a:ext uri="{9D8B030D-6E8A-4147-A177-3AD203B41FA5}">
                      <a16:colId xmlns:a16="http://schemas.microsoft.com/office/drawing/2014/main" val="1922127822"/>
                    </a:ext>
                  </a:extLst>
                </a:gridCol>
              </a:tblGrid>
              <a:tr h="267984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Account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Debit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Credit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197836727"/>
                  </a:ext>
                </a:extLst>
              </a:tr>
              <a:tr h="21160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Assets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Chase Bank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1,000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920618123"/>
                  </a:ext>
                </a:extLst>
              </a:tr>
              <a:tr h="21160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 err="1">
                          <a:effectLst/>
                        </a:rPr>
                        <a:t>Expese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Tran. Fees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50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908239718"/>
                  </a:ext>
                </a:extLst>
              </a:tr>
              <a:tr h="21160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Revenue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Crypto Donations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solidFill>
                            <a:srgbClr val="00B0F0"/>
                          </a:solidFill>
                          <a:effectLst/>
                        </a:rPr>
                        <a:t>1,050 </a:t>
                      </a:r>
                      <a:endParaRPr lang="en-US" sz="1200" b="0" i="0" u="none" strike="noStrike" dirty="0">
                        <a:solidFill>
                          <a:srgbClr val="00B0F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992488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6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2001</TotalTime>
  <Words>917</Words>
  <Application>Microsoft Macintosh PowerPoint</Application>
  <PresentationFormat>Widescreen</PresentationFormat>
  <Paragraphs>134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Minion Pro</vt:lpstr>
      <vt:lpstr>PT Sans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175</cp:revision>
  <dcterms:modified xsi:type="dcterms:W3CDTF">2022-12-11T04:16:08Z</dcterms:modified>
</cp:coreProperties>
</file>