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834" r:id="rId1"/>
  </p:sldMasterIdLst>
  <p:notesMasterIdLst>
    <p:notesMasterId r:id="rId5"/>
  </p:notesMasterIdLst>
  <p:sldIdLst>
    <p:sldId id="296" r:id="rId2"/>
    <p:sldId id="297" r:id="rId3"/>
    <p:sldId id="29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72"/>
    <p:restoredTop sz="92313"/>
  </p:normalViewPr>
  <p:slideViewPr>
    <p:cSldViewPr snapToGrid="0" snapToObjects="1">
      <p:cViewPr varScale="1">
        <p:scale>
          <a:sx n="118" d="100"/>
          <a:sy n="118" d="100"/>
        </p:scale>
        <p:origin x="78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12/10/22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581347604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12/10/22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975706540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12/10/22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637581792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12/10/22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15494234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12/10/22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654681038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12/10/22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615407898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12/10/22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4274231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12/10/22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55428505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12/10/22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239406656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12/10/22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782881816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12/10/22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799344295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1FAE4C-5332-014D-8E1B-BB8DA73EF81D}" type="datetimeFigureOut">
              <a:rPr lang="en-US"/>
              <a:t>12/10/22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8881544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5" r:id="rId1"/>
    <p:sldLayoutId id="2147483836" r:id="rId2"/>
    <p:sldLayoutId id="2147483837" r:id="rId3"/>
    <p:sldLayoutId id="2147483838" r:id="rId4"/>
    <p:sldLayoutId id="2147483839" r:id="rId5"/>
    <p:sldLayoutId id="2147483840" r:id="rId6"/>
    <p:sldLayoutId id="2147483841" r:id="rId7"/>
    <p:sldLayoutId id="2147483842" r:id="rId8"/>
    <p:sldLayoutId id="2147483843" r:id="rId9"/>
    <p:sldLayoutId id="2147483844" r:id="rId10"/>
    <p:sldLayoutId id="2147483845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Accounting_standard" TargetMode="External"/><Relationship Id="rId2" Type="http://schemas.openxmlformats.org/officeDocument/2006/relationships/hyperlink" Target="https://en.wikipedia.org/wiki/Accounting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en.wikipedia.org/wiki/International_Accounting_Standards_Board" TargetMode="External"/><Relationship Id="rId5" Type="http://schemas.openxmlformats.org/officeDocument/2006/relationships/hyperlink" Target="https://en.wikipedia.org/wiki/IFRS_Foundation" TargetMode="External"/><Relationship Id="rId4" Type="http://schemas.openxmlformats.org/officeDocument/2006/relationships/hyperlink" Target="https://en.wikipedia.org/wiki/International_Financial_Reporting_Standards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www.basicaccountingconcepts.education/making-sense-of-debits-and-credits-in-accounting/" TargetMode="Externa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www.youtube.com/watch?v=VhwZ9t2b3Zk" TargetMode="External"/><Relationship Id="rId4" Type="http://schemas.openxmlformats.org/officeDocument/2006/relationships/hyperlink" Target="https://www.youtube.com/watch?v=COOBti0xp0o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smallbusiness.chron.com/financial-treatment-assets-given-business-426.htmlhttps:/smallbusiness.chron.com/financial-treatment-assets-given-business-426.html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772A975-345E-4744-AC48-210D71FDE633}"/>
              </a:ext>
            </a:extLst>
          </p:cNvPr>
          <p:cNvSpPr txBox="1"/>
          <p:nvPr/>
        </p:nvSpPr>
        <p:spPr>
          <a:xfrm>
            <a:off x="120713" y="120713"/>
            <a:ext cx="23026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Accounting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ADAB67-8E7D-C885-6BBC-42324BCE493A}"/>
              </a:ext>
            </a:extLst>
          </p:cNvPr>
          <p:cNvSpPr txBox="1"/>
          <p:nvPr/>
        </p:nvSpPr>
        <p:spPr>
          <a:xfrm>
            <a:off x="120713" y="612533"/>
            <a:ext cx="5755652" cy="569386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Accounting</a:t>
            </a:r>
            <a:r>
              <a:rPr lang="en-US" sz="1400" dirty="0"/>
              <a:t> = keeping or preparation of the financial records of transactions of the firm, the analysis, verification and reporting of such records - </a:t>
            </a:r>
            <a:r>
              <a:rPr lang="en-US" sz="1400" dirty="0">
                <a:hlinkClick r:id="rId2"/>
              </a:rPr>
              <a:t>https://en.wikipedia.org/wiki/Accounting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Double-entry bookkeeping</a:t>
            </a:r>
            <a:r>
              <a:rPr lang="en-US" sz="1400" dirty="0"/>
              <a:t> - Jewish community of the early-medieval Middle East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The first published work on a double-entry bookkeeping system was the Summa de </a:t>
            </a:r>
            <a:r>
              <a:rPr lang="en-US" sz="1400" dirty="0" err="1"/>
              <a:t>arithmetica</a:t>
            </a:r>
            <a:r>
              <a:rPr lang="en-US" sz="1400" dirty="0"/>
              <a:t>, published in Italy in 1494 by Luca </a:t>
            </a:r>
            <a:r>
              <a:rPr lang="en-US" sz="1400" dirty="0" err="1"/>
              <a:t>Pacioli</a:t>
            </a:r>
            <a:r>
              <a:rPr lang="en-US" sz="1400" dirty="0"/>
              <a:t> (the "Father of Accounting")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i="0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GAAP</a:t>
            </a:r>
            <a:r>
              <a:rPr lang="en-US" sz="1400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 = Generally Accepted Accounting Principles</a:t>
            </a:r>
            <a:br>
              <a:rPr lang="en-US" sz="1400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</a:br>
            <a:r>
              <a:rPr lang="en-US" sz="1400" b="0" i="0" dirty="0">
                <a:solidFill>
                  <a:srgbClr val="202122"/>
                </a:solidFill>
                <a:effectLst/>
                <a:latin typeface="Arial" panose="020B0604020202020204" pitchFamily="34" charset="0"/>
                <a:hlinkClick r:id="rId3"/>
              </a:rPr>
              <a:t>https://</a:t>
            </a:r>
            <a:r>
              <a:rPr lang="en-US" sz="1400" b="0" i="0" dirty="0" err="1">
                <a:solidFill>
                  <a:srgbClr val="202122"/>
                </a:solidFill>
                <a:effectLst/>
                <a:latin typeface="Arial" panose="020B0604020202020204" pitchFamily="34" charset="0"/>
                <a:hlinkClick r:id="rId3"/>
              </a:rPr>
              <a:t>en.wikipedia.org</a:t>
            </a:r>
            <a:r>
              <a:rPr lang="en-US" sz="1400" b="0" i="0" dirty="0">
                <a:solidFill>
                  <a:srgbClr val="202122"/>
                </a:solidFill>
                <a:effectLst/>
                <a:latin typeface="Arial" panose="020B0604020202020204" pitchFamily="34" charset="0"/>
                <a:hlinkClick r:id="rId3"/>
              </a:rPr>
              <a:t>/wiki/</a:t>
            </a:r>
            <a:r>
              <a:rPr lang="en-US" sz="1400" b="0" i="0" dirty="0" err="1">
                <a:solidFill>
                  <a:srgbClr val="202122"/>
                </a:solidFill>
                <a:effectLst/>
                <a:latin typeface="Arial" panose="020B0604020202020204" pitchFamily="34" charset="0"/>
                <a:hlinkClick r:id="rId3"/>
              </a:rPr>
              <a:t>Accounting_standard</a:t>
            </a:r>
            <a:endParaRPr lang="en-US" sz="1400" b="0" i="0" dirty="0">
              <a:solidFill>
                <a:srgbClr val="202122"/>
              </a:solidFill>
              <a:effectLst/>
              <a:latin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anose="020B0604020202020204" pitchFamily="34" charset="0"/>
              </a:rPr>
              <a:t>IFRS</a:t>
            </a: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 = International Financial Reporting Standards</a:t>
            </a:r>
            <a:b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</a:b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  <a:hlinkClick r:id="rId4"/>
              </a:rPr>
              <a:t>https://</a:t>
            </a:r>
            <a:r>
              <a:rPr lang="en-US" sz="1400" dirty="0" err="1">
                <a:solidFill>
                  <a:srgbClr val="202122"/>
                </a:solidFill>
                <a:latin typeface="Arial" panose="020B0604020202020204" pitchFamily="34" charset="0"/>
                <a:hlinkClick r:id="rId4"/>
              </a:rPr>
              <a:t>en.wikipedia.org</a:t>
            </a: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  <a:hlinkClick r:id="rId4"/>
              </a:rPr>
              <a:t>/wiki/</a:t>
            </a:r>
            <a:r>
              <a:rPr lang="en-US" sz="1400" dirty="0" err="1">
                <a:solidFill>
                  <a:srgbClr val="202122"/>
                </a:solidFill>
                <a:latin typeface="Arial" panose="020B0604020202020204" pitchFamily="34" charset="0"/>
                <a:hlinkClick r:id="rId4"/>
              </a:rPr>
              <a:t>International_Financial_Reporting_Standards</a:t>
            </a:r>
            <a:endParaRPr lang="en-US" sz="1400" dirty="0">
              <a:solidFill>
                <a:srgbClr val="202122"/>
              </a:solidFill>
              <a:latin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anose="020B0604020202020204" pitchFamily="34" charset="0"/>
              </a:rPr>
              <a:t>IFRS Foundation</a:t>
            </a:r>
            <a:b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</a:b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  <a:hlinkClick r:id="rId5"/>
              </a:rPr>
              <a:t>https://</a:t>
            </a:r>
            <a:r>
              <a:rPr lang="en-US" sz="1400" dirty="0" err="1">
                <a:solidFill>
                  <a:srgbClr val="202122"/>
                </a:solidFill>
                <a:latin typeface="Arial" panose="020B0604020202020204" pitchFamily="34" charset="0"/>
                <a:hlinkClick r:id="rId5"/>
              </a:rPr>
              <a:t>en.wikipedia.org</a:t>
            </a: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  <a:hlinkClick r:id="rId5"/>
              </a:rPr>
              <a:t>/wiki/</a:t>
            </a:r>
            <a:r>
              <a:rPr lang="en-US" sz="1400" dirty="0" err="1">
                <a:solidFill>
                  <a:srgbClr val="202122"/>
                </a:solidFill>
                <a:latin typeface="Arial" panose="020B0604020202020204" pitchFamily="34" charset="0"/>
                <a:hlinkClick r:id="rId5"/>
              </a:rPr>
              <a:t>IFRS_Foundation</a:t>
            </a:r>
            <a:endParaRPr lang="en-US" sz="1400" dirty="0">
              <a:solidFill>
                <a:srgbClr val="202122"/>
              </a:solidFill>
              <a:latin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anose="020B0604020202020204" pitchFamily="34" charset="0"/>
              </a:rPr>
              <a:t>IASB</a:t>
            </a: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 = International Accounting Standards Board</a:t>
            </a:r>
            <a:b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</a:b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  <a:hlinkClick r:id="rId6"/>
              </a:rPr>
              <a:t>https://</a:t>
            </a:r>
            <a:r>
              <a:rPr lang="en-US" sz="1400" dirty="0" err="1">
                <a:solidFill>
                  <a:srgbClr val="202122"/>
                </a:solidFill>
                <a:latin typeface="Arial" panose="020B0604020202020204" pitchFamily="34" charset="0"/>
                <a:hlinkClick r:id="rId6"/>
              </a:rPr>
              <a:t>en.wikipedia.org</a:t>
            </a: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  <a:hlinkClick r:id="rId6"/>
              </a:rPr>
              <a:t>/wiki/</a:t>
            </a:r>
            <a:r>
              <a:rPr lang="en-US" sz="1400" dirty="0" err="1">
                <a:solidFill>
                  <a:srgbClr val="202122"/>
                </a:solidFill>
                <a:latin typeface="Arial" panose="020B0604020202020204" pitchFamily="34" charset="0"/>
                <a:hlinkClick r:id="rId6"/>
              </a:rPr>
              <a:t>International_Accounting_Standards_Board</a:t>
            </a:r>
            <a:endParaRPr lang="en-US" sz="1400" dirty="0">
              <a:solidFill>
                <a:srgbClr val="202122"/>
              </a:solidFill>
              <a:latin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anose="020B0604020202020204" pitchFamily="34" charset="0"/>
              </a:rPr>
              <a:t>CIMA</a:t>
            </a: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 = Chartered Institute of Management Accountants (UK)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anose="020B0604020202020204" pitchFamily="34" charset="0"/>
              </a:rPr>
              <a:t>CGMA</a:t>
            </a: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 = Chartered Global Management Accountant (qualification by CIMA)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anose="020B0604020202020204" pitchFamily="34" charset="0"/>
              </a:rPr>
              <a:t>AICPA</a:t>
            </a: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 = American Institute of Certified Public Accountants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anose="020B0604020202020204" pitchFamily="34" charset="0"/>
              </a:rPr>
              <a:t>Auditing</a:t>
            </a: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 = verification, "unbiased examination and evaluation"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anose="020B0604020202020204" pitchFamily="34" charset="0"/>
              </a:rPr>
              <a:t>Tax accounting</a:t>
            </a: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 = (in US) preparation/analysis of tax returns/payments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Forensic accounting (disputes, litigations)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2E3759-3936-DA51-10BD-CD60227B3105}"/>
              </a:ext>
            </a:extLst>
          </p:cNvPr>
          <p:cNvSpPr txBox="1"/>
          <p:nvPr/>
        </p:nvSpPr>
        <p:spPr>
          <a:xfrm>
            <a:off x="6315635" y="612533"/>
            <a:ext cx="5755652" cy="461664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anose="020B0604020202020204" pitchFamily="34" charset="0"/>
              </a:rPr>
              <a:t>IFAC</a:t>
            </a: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 = International Federation of Accountants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00B050"/>
                </a:solidFill>
                <a:latin typeface="Arial" panose="020B0604020202020204" pitchFamily="34" charset="0"/>
              </a:rPr>
              <a:t>ICAS</a:t>
            </a: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 = Institute of Chartered Accountants of Scotland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00B050"/>
                </a:solidFill>
                <a:latin typeface="Arial" panose="020B0604020202020204" pitchFamily="34" charset="0"/>
              </a:rPr>
              <a:t>ICAP</a:t>
            </a: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 = Institute of Chartered Accountants of Pakistan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00B050"/>
                </a:solidFill>
                <a:latin typeface="Arial" panose="020B0604020202020204" pitchFamily="34" charset="0"/>
              </a:rPr>
              <a:t>CPA Australia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00B050"/>
                </a:solidFill>
                <a:latin typeface="Arial" panose="020B0604020202020204" pitchFamily="34" charset="0"/>
              </a:rPr>
              <a:t>ICAI</a:t>
            </a: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 = Institute of Chartered Accountants of India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00B050"/>
                </a:solidFill>
                <a:latin typeface="Arial" panose="020B0604020202020204" pitchFamily="34" charset="0"/>
              </a:rPr>
              <a:t>ACCA</a:t>
            </a: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  = Association of Chartered Certified Accountants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00B050"/>
                </a:solidFill>
                <a:latin typeface="Arial" panose="020B0604020202020204" pitchFamily="34" charset="0"/>
              </a:rPr>
              <a:t>ICAEW</a:t>
            </a: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 = Institute of Chartered Accountants in England and Wales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Institute of management accountants in the United States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anose="020B0604020202020204" pitchFamily="34" charset="0"/>
              </a:rPr>
              <a:t>CPA</a:t>
            </a: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 (Certified Public Accountant) – by (AICPA)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anose="020B0604020202020204" pitchFamily="34" charset="0"/>
              </a:rPr>
              <a:t>Chartered Accountant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anose="020B0604020202020204" pitchFamily="34" charset="0"/>
              </a:rPr>
              <a:t>Big Five</a:t>
            </a: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 accounting firms:</a:t>
            </a:r>
            <a:b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</a:br>
            <a:r>
              <a:rPr lang="en-US" sz="1400" b="1" dirty="0">
                <a:solidFill>
                  <a:srgbClr val="00B050"/>
                </a:solidFill>
                <a:latin typeface="Arial" panose="020B0604020202020204" pitchFamily="34" charset="0"/>
              </a:rPr>
              <a:t>.. Arthur Andersen (no more after Enron scandal)</a:t>
            </a:r>
            <a:br>
              <a:rPr lang="en-US" sz="1400" b="1" dirty="0">
                <a:solidFill>
                  <a:srgbClr val="00B050"/>
                </a:solidFill>
                <a:latin typeface="Arial" panose="020B0604020202020204" pitchFamily="34" charset="0"/>
              </a:rPr>
            </a:br>
            <a:r>
              <a:rPr lang="en-US" sz="1400" b="1" dirty="0">
                <a:solidFill>
                  <a:srgbClr val="00B050"/>
                </a:solidFill>
                <a:latin typeface="Arial" panose="020B0604020202020204" pitchFamily="34" charset="0"/>
              </a:rPr>
              <a:t>.. Deloitte</a:t>
            </a:r>
            <a:br>
              <a:rPr lang="en-US" sz="1400" b="1" dirty="0">
                <a:solidFill>
                  <a:srgbClr val="00B050"/>
                </a:solidFill>
                <a:latin typeface="Arial" panose="020B0604020202020204" pitchFamily="34" charset="0"/>
              </a:rPr>
            </a:br>
            <a:r>
              <a:rPr lang="en-US" sz="1400" b="1" dirty="0">
                <a:solidFill>
                  <a:srgbClr val="00B050"/>
                </a:solidFill>
                <a:latin typeface="Arial" panose="020B0604020202020204" pitchFamily="34" charset="0"/>
              </a:rPr>
              <a:t>.. Ernst &amp; Young</a:t>
            </a:r>
            <a:br>
              <a:rPr lang="en-US" sz="1400" b="1" dirty="0">
                <a:solidFill>
                  <a:srgbClr val="00B050"/>
                </a:solidFill>
                <a:latin typeface="Arial" panose="020B0604020202020204" pitchFamily="34" charset="0"/>
              </a:rPr>
            </a:br>
            <a:r>
              <a:rPr lang="en-US" sz="1400" b="1" dirty="0">
                <a:solidFill>
                  <a:srgbClr val="00B050"/>
                </a:solidFill>
                <a:latin typeface="Arial" panose="020B0604020202020204" pitchFamily="34" charset="0"/>
              </a:rPr>
              <a:t>.. KPMG</a:t>
            </a:r>
            <a:br>
              <a:rPr lang="en-US" sz="1400" b="1" dirty="0">
                <a:solidFill>
                  <a:srgbClr val="00B050"/>
                </a:solidFill>
                <a:latin typeface="Arial" panose="020B0604020202020204" pitchFamily="34" charset="0"/>
              </a:rPr>
            </a:br>
            <a:r>
              <a:rPr lang="en-US" sz="1400" b="1" dirty="0">
                <a:solidFill>
                  <a:srgbClr val="00B050"/>
                </a:solidFill>
                <a:latin typeface="Arial" panose="020B0604020202020204" pitchFamily="34" charset="0"/>
              </a:rPr>
              <a:t>.. PricewaterhouseCoopers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anose="020B0604020202020204" pitchFamily="34" charset="0"/>
              </a:rPr>
              <a:t>IAESB</a:t>
            </a: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 = International Accounting Education Standards Board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anose="020B0604020202020204" pitchFamily="34" charset="0"/>
              </a:rPr>
              <a:t>IPSASB</a:t>
            </a: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 = International Public Sector Accounting Standards Board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anose="020B0604020202020204" pitchFamily="34" charset="0"/>
              </a:rPr>
              <a:t>FASB</a:t>
            </a: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  = Financial Accounting Standards Board (in US)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anose="020B0604020202020204" pitchFamily="34" charset="0"/>
              </a:rPr>
              <a:t>FRC</a:t>
            </a:r>
            <a:r>
              <a:rPr lang="en-US" sz="1400" dirty="0">
                <a:solidFill>
                  <a:srgbClr val="202122"/>
                </a:solidFill>
                <a:latin typeface="Arial" panose="020B0604020202020204" pitchFamily="34" charset="0"/>
              </a:rPr>
              <a:t> = Financial Reporting Council (in UK)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202122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22200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772A975-345E-4744-AC48-210D71FDE633}"/>
              </a:ext>
            </a:extLst>
          </p:cNvPr>
          <p:cNvSpPr txBox="1"/>
          <p:nvPr/>
        </p:nvSpPr>
        <p:spPr>
          <a:xfrm>
            <a:off x="120713" y="120713"/>
            <a:ext cx="65490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Double-Entry Bookkeeping / accounting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ADAB67-8E7D-C885-6BBC-42324BCE493A}"/>
              </a:ext>
            </a:extLst>
          </p:cNvPr>
          <p:cNvSpPr txBox="1"/>
          <p:nvPr/>
        </p:nvSpPr>
        <p:spPr>
          <a:xfrm>
            <a:off x="120713" y="664407"/>
            <a:ext cx="5975287" cy="2616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100" dirty="0">
                <a:hlinkClick r:id="rId2"/>
              </a:rPr>
              <a:t>https://</a:t>
            </a:r>
            <a:r>
              <a:rPr lang="en-US" sz="1100" dirty="0" err="1">
                <a:hlinkClick r:id="rId2"/>
              </a:rPr>
              <a:t>www.basicaccountingconcepts.education</a:t>
            </a:r>
            <a:r>
              <a:rPr lang="en-US" sz="1100" dirty="0">
                <a:hlinkClick r:id="rId2"/>
              </a:rPr>
              <a:t>/making-sense-of-debits-and-credits-in-accounting/</a:t>
            </a:r>
            <a:endParaRPr lang="en-US" sz="11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C14E332-BD8F-FD39-DD94-46C1C7964D16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60274" y="4235187"/>
            <a:ext cx="2104985" cy="85953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3E659D6-A1E1-AF45-752B-CD3BC389A9DD}"/>
              </a:ext>
            </a:extLst>
          </p:cNvPr>
          <p:cNvSpPr txBox="1"/>
          <p:nvPr/>
        </p:nvSpPr>
        <p:spPr>
          <a:xfrm>
            <a:off x="4899247" y="2559201"/>
            <a:ext cx="310804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If a business takes out a bank loan for $10,000, recording the transaction would require a debit of $10,000 to an asset account called "Cash", as well as a credit of $10,000 to a liability account called "Notes Payable".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3D07CA-3F04-DEFA-BC2F-2F034FDDFE7E}"/>
              </a:ext>
            </a:extLst>
          </p:cNvPr>
          <p:cNvSpPr txBox="1"/>
          <p:nvPr/>
        </p:nvSpPr>
        <p:spPr>
          <a:xfrm>
            <a:off x="120713" y="1046689"/>
            <a:ext cx="4184587" cy="504753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All financial transactions has a flow </a:t>
            </a:r>
          </a:p>
          <a:p>
            <a:r>
              <a:rPr lang="en-US" sz="1400" dirty="0"/>
              <a:t>from a </a:t>
            </a:r>
            <a:r>
              <a:rPr lang="en-US" sz="1400" b="1" dirty="0">
                <a:solidFill>
                  <a:srgbClr val="FF0000"/>
                </a:solidFill>
              </a:rPr>
              <a:t>source (Credit) </a:t>
            </a:r>
            <a:r>
              <a:rPr lang="en-US" sz="1400" dirty="0"/>
              <a:t>to a </a:t>
            </a:r>
            <a:r>
              <a:rPr lang="en-US" sz="1400" b="1" dirty="0">
                <a:solidFill>
                  <a:srgbClr val="FF0000"/>
                </a:solidFill>
              </a:rPr>
              <a:t>destination ()</a:t>
            </a:r>
          </a:p>
          <a:p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Debit</a:t>
            </a:r>
            <a:r>
              <a:rPr lang="en-US" sz="1400" dirty="0"/>
              <a:t> and </a:t>
            </a:r>
            <a:r>
              <a:rPr lang="en-US" sz="1400" b="1" dirty="0">
                <a:solidFill>
                  <a:srgbClr val="FF0000"/>
                </a:solidFill>
              </a:rPr>
              <a:t>Credit</a:t>
            </a:r>
            <a:r>
              <a:rPr lang="en-US" sz="1400" dirty="0"/>
              <a:t> has no relationship with the concepts of positive/negative. So </a:t>
            </a:r>
            <a:r>
              <a:rPr lang="en-US" sz="1400" b="1" dirty="0">
                <a:solidFill>
                  <a:srgbClr val="FF0000"/>
                </a:solidFill>
              </a:rPr>
              <a:t>Credit</a:t>
            </a:r>
            <a:r>
              <a:rPr lang="en-US" sz="1400" dirty="0"/>
              <a:t> may be negative, and </a:t>
            </a:r>
            <a:r>
              <a:rPr lang="en-US" sz="1400" b="1" dirty="0">
                <a:solidFill>
                  <a:srgbClr val="FF0000"/>
                </a:solidFill>
              </a:rPr>
              <a:t>Debit</a:t>
            </a:r>
            <a:r>
              <a:rPr lang="en-US" sz="1400" dirty="0"/>
              <a:t> – positive.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 transaction in </a:t>
            </a:r>
            <a:r>
              <a:rPr lang="en-US" sz="1400" b="1" dirty="0">
                <a:solidFill>
                  <a:srgbClr val="FF0000"/>
                </a:solidFill>
              </a:rPr>
              <a:t>double-entry bookkeeping </a:t>
            </a:r>
            <a:r>
              <a:rPr lang="en-US" sz="1400" dirty="0"/>
              <a:t>always include </a:t>
            </a:r>
            <a:r>
              <a:rPr lang="en-US" sz="1400" b="1" dirty="0">
                <a:solidFill>
                  <a:srgbClr val="00B050"/>
                </a:solidFill>
              </a:rPr>
              <a:t>at least two accounts.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The purpose of </a:t>
            </a:r>
            <a:r>
              <a:rPr lang="en-US" sz="1400" b="1" dirty="0">
                <a:solidFill>
                  <a:srgbClr val="FF0000"/>
                </a:solidFill>
              </a:rPr>
              <a:t>double-entry bookkeeping </a:t>
            </a:r>
            <a:r>
              <a:rPr lang="en-US" sz="1400" dirty="0"/>
              <a:t>is to </a:t>
            </a:r>
            <a:r>
              <a:rPr lang="en-US" sz="1400" b="1" dirty="0">
                <a:solidFill>
                  <a:srgbClr val="00B050"/>
                </a:solidFill>
              </a:rPr>
              <a:t>help detect financial errors and fraud</a:t>
            </a:r>
            <a:r>
              <a:rPr lang="en-US" sz="1400" dirty="0"/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The totals of debits and credits should be maintained equal.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Note: having balance doesn't guarantee a lack of errors. The ledger may still "balance" even if the wrong ledger accounts have been debited or credited.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The entries may occur in asset, liability, equity, expense, or revenue accounts.</a:t>
            </a:r>
          </a:p>
          <a:p>
            <a:endParaRPr lang="en-US" sz="1400" dirty="0"/>
          </a:p>
          <a:p>
            <a:r>
              <a:rPr lang="en-US" sz="1400" b="1" dirty="0">
                <a:solidFill>
                  <a:srgbClr val="FF0000"/>
                </a:solidFill>
              </a:rPr>
              <a:t>Accounting equation: </a:t>
            </a:r>
          </a:p>
          <a:p>
            <a:r>
              <a:rPr lang="en-US" sz="1400" b="1" dirty="0">
                <a:solidFill>
                  <a:srgbClr val="00B050"/>
                </a:solidFill>
              </a:rPr>
              <a:t>    Assets = Liabilities + Equity</a:t>
            </a:r>
          </a:p>
          <a:p>
            <a:r>
              <a:rPr lang="en-US" sz="1400" b="1" dirty="0">
                <a:solidFill>
                  <a:srgbClr val="00B050"/>
                </a:solidFill>
              </a:rPr>
              <a:t>    A = L + E</a:t>
            </a:r>
          </a:p>
          <a:p>
            <a:endParaRPr lang="en-US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DFCCEF-2B2B-9A25-BDC1-60D6E72925CA}"/>
              </a:ext>
            </a:extLst>
          </p:cNvPr>
          <p:cNvSpPr txBox="1"/>
          <p:nvPr/>
        </p:nvSpPr>
        <p:spPr>
          <a:xfrm>
            <a:off x="8601234" y="1720510"/>
            <a:ext cx="3217809" cy="16773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Double-entry Accounting and Bookkeeping principles explained in simple terms</a:t>
            </a:r>
          </a:p>
          <a:p>
            <a:r>
              <a:rPr lang="en-US" sz="1100" dirty="0"/>
              <a:t>.. </a:t>
            </a:r>
            <a:r>
              <a:rPr lang="en-US" sz="1100" dirty="0">
                <a:hlinkClick r:id="rId4"/>
              </a:rPr>
              <a:t>https://</a:t>
            </a:r>
            <a:r>
              <a:rPr lang="en-US" sz="1100" dirty="0" err="1">
                <a:hlinkClick r:id="rId4"/>
              </a:rPr>
              <a:t>www.youtube.com</a:t>
            </a:r>
            <a:r>
              <a:rPr lang="en-US" sz="1100" dirty="0">
                <a:hlinkClick r:id="rId4"/>
              </a:rPr>
              <a:t>/</a:t>
            </a:r>
            <a:r>
              <a:rPr lang="en-US" sz="1100" dirty="0" err="1">
                <a:hlinkClick r:id="rId4"/>
              </a:rPr>
              <a:t>watch?v</a:t>
            </a:r>
            <a:r>
              <a:rPr lang="en-US" sz="1100" dirty="0">
                <a:hlinkClick r:id="rId4"/>
              </a:rPr>
              <a:t>=COOBti0xp0o</a:t>
            </a:r>
            <a:endParaRPr lang="en-US" sz="1100" dirty="0"/>
          </a:p>
          <a:p>
            <a:endParaRPr lang="en-US" sz="1100" dirty="0"/>
          </a:p>
          <a:p>
            <a:r>
              <a:rPr lang="en-US" sz="1400" dirty="0"/>
              <a:t>ACCOUNTING BASICS: Debits and Credits Explained</a:t>
            </a:r>
          </a:p>
          <a:p>
            <a:r>
              <a:rPr lang="en-US" sz="1100" dirty="0"/>
              <a:t>.. </a:t>
            </a:r>
            <a:r>
              <a:rPr lang="en-US" sz="1100" dirty="0">
                <a:hlinkClick r:id="rId5"/>
              </a:rPr>
              <a:t>https://</a:t>
            </a:r>
            <a:r>
              <a:rPr lang="en-US" sz="1100" dirty="0" err="1">
                <a:hlinkClick r:id="rId5"/>
              </a:rPr>
              <a:t>www.youtube.com</a:t>
            </a:r>
            <a:r>
              <a:rPr lang="en-US" sz="1100" dirty="0">
                <a:hlinkClick r:id="rId5"/>
              </a:rPr>
              <a:t>/</a:t>
            </a:r>
            <a:r>
              <a:rPr lang="en-US" sz="1100" dirty="0" err="1">
                <a:hlinkClick r:id="rId5"/>
              </a:rPr>
              <a:t>watch?v</a:t>
            </a:r>
            <a:r>
              <a:rPr lang="en-US" sz="1100" dirty="0">
                <a:hlinkClick r:id="rId5"/>
              </a:rPr>
              <a:t>=VhwZ9t2b3Zk</a:t>
            </a:r>
            <a:endParaRPr lang="en-US" sz="11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4580FC-3CAB-6DA3-78FA-C4056958759C}"/>
              </a:ext>
            </a:extLst>
          </p:cNvPr>
          <p:cNvSpPr txBox="1"/>
          <p:nvPr/>
        </p:nvSpPr>
        <p:spPr>
          <a:xfrm>
            <a:off x="4582886" y="1774371"/>
            <a:ext cx="1143000" cy="5232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Credit </a:t>
            </a:r>
            <a:br>
              <a:rPr lang="en-US" sz="1400" dirty="0"/>
            </a:br>
            <a:r>
              <a:rPr lang="en-US" sz="1400" dirty="0"/>
              <a:t>Account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D53A64-9646-1DB4-4BA8-63B64B315174}"/>
              </a:ext>
            </a:extLst>
          </p:cNvPr>
          <p:cNvSpPr txBox="1"/>
          <p:nvPr/>
        </p:nvSpPr>
        <p:spPr>
          <a:xfrm>
            <a:off x="6677786" y="1774371"/>
            <a:ext cx="1143000" cy="5232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Debit </a:t>
            </a:r>
            <a:br>
              <a:rPr lang="en-US" sz="1400" dirty="0"/>
            </a:br>
            <a:r>
              <a:rPr lang="en-US" sz="1400" dirty="0"/>
              <a:t>Account 1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43831C1-572D-16B6-0CF1-02052A69A925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5725886" y="2035981"/>
            <a:ext cx="951900" cy="0"/>
          </a:xfrm>
          <a:prstGeom prst="straightConnector1">
            <a:avLst/>
          </a:prstGeom>
          <a:ln w="508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00539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772A975-345E-4744-AC48-210D71FDE633}"/>
              </a:ext>
            </a:extLst>
          </p:cNvPr>
          <p:cNvSpPr txBox="1"/>
          <p:nvPr/>
        </p:nvSpPr>
        <p:spPr>
          <a:xfrm>
            <a:off x="1" y="37047"/>
            <a:ext cx="36703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Double-Entry Examples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701440-79B6-BE51-66F5-F036168CF8EF}"/>
              </a:ext>
            </a:extLst>
          </p:cNvPr>
          <p:cNvSpPr txBox="1"/>
          <p:nvPr/>
        </p:nvSpPr>
        <p:spPr>
          <a:xfrm>
            <a:off x="6096000" y="129380"/>
            <a:ext cx="6013899" cy="138499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Transactions are entered in the books of accounts </a:t>
            </a:r>
          </a:p>
          <a:p>
            <a:r>
              <a:rPr lang="en-US" sz="1400" dirty="0"/>
              <a:t>by applying the following golden rules of accounting:</a:t>
            </a:r>
          </a:p>
          <a:p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Real account</a:t>
            </a:r>
            <a:r>
              <a:rPr lang="en-US" sz="1400" dirty="0"/>
              <a:t>: Debit what comes in and credit what goes out.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Personal account</a:t>
            </a:r>
            <a:r>
              <a:rPr lang="en-US" sz="1400" dirty="0"/>
              <a:t>: Debit the receiver and credit the giver.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Nominal account</a:t>
            </a:r>
            <a:r>
              <a:rPr lang="en-US" sz="1400" dirty="0"/>
              <a:t>: Debit all expenses &amp; losses and credit all incomes &amp; gains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FD6C0D3-9AE3-58BD-50A6-67C5BEAEFC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0707999"/>
              </p:ext>
            </p:extLst>
          </p:nvPr>
        </p:nvGraphicFramePr>
        <p:xfrm>
          <a:off x="6109395" y="2075815"/>
          <a:ext cx="2379891" cy="139128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03396">
                  <a:extLst>
                    <a:ext uri="{9D8B030D-6E8A-4147-A177-3AD203B41FA5}">
                      <a16:colId xmlns:a16="http://schemas.microsoft.com/office/drawing/2014/main" val="1785501621"/>
                    </a:ext>
                  </a:extLst>
                </a:gridCol>
                <a:gridCol w="725419">
                  <a:extLst>
                    <a:ext uri="{9D8B030D-6E8A-4147-A177-3AD203B41FA5}">
                      <a16:colId xmlns:a16="http://schemas.microsoft.com/office/drawing/2014/main" val="1150955745"/>
                    </a:ext>
                  </a:extLst>
                </a:gridCol>
                <a:gridCol w="951076">
                  <a:extLst>
                    <a:ext uri="{9D8B030D-6E8A-4147-A177-3AD203B41FA5}">
                      <a16:colId xmlns:a16="http://schemas.microsoft.com/office/drawing/2014/main" val="3231459737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Account</a:t>
                      </a:r>
                      <a:endParaRPr lang="en-US" sz="1200" b="1" i="0" u="none" strike="noStrike" dirty="0">
                        <a:solidFill>
                          <a:srgbClr val="FF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to increase</a:t>
                      </a:r>
                    </a:p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balance</a:t>
                      </a:r>
                      <a:endParaRPr lang="en-US" sz="1200" b="1" i="0" u="none" strike="noStrike" dirty="0">
                        <a:solidFill>
                          <a:srgbClr val="FF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to decrease </a:t>
                      </a:r>
                    </a:p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balance</a:t>
                      </a:r>
                      <a:endParaRPr lang="en-US" sz="1200" b="1" i="0" u="none" strike="noStrike" dirty="0">
                        <a:solidFill>
                          <a:srgbClr val="FF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472479806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</a:rPr>
                        <a:t>Assets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Debit</a:t>
                      </a:r>
                      <a:endParaRPr lang="en-US" sz="1200" b="0" i="0" u="none" strike="noStrike" dirty="0">
                        <a:solidFill>
                          <a:srgbClr val="00B05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Credit</a:t>
                      </a:r>
                      <a:endParaRPr lang="en-US" sz="1200" b="0" i="0" u="none" strike="noStrike" dirty="0">
                        <a:solidFill>
                          <a:srgbClr val="C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81189213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</a:rPr>
                        <a:t>Liabilities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002060"/>
                          </a:solidFill>
                          <a:effectLst/>
                        </a:rPr>
                        <a:t>Credit</a:t>
                      </a:r>
                      <a:endParaRPr lang="en-US" sz="1200" b="0" i="0" u="none" strike="noStrike" dirty="0">
                        <a:solidFill>
                          <a:srgbClr val="00206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00B0F0"/>
                          </a:solidFill>
                          <a:effectLst/>
                        </a:rPr>
                        <a:t>Debit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722967761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</a:rPr>
                        <a:t>Revenue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002060"/>
                          </a:solidFill>
                          <a:effectLst/>
                        </a:rPr>
                        <a:t>Credit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00B0F0"/>
                          </a:solidFill>
                          <a:effectLst/>
                        </a:rPr>
                        <a:t>Debit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959825839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</a:rPr>
                        <a:t>Expenses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Debit</a:t>
                      </a:r>
                      <a:endParaRPr lang="en-US" sz="1200" b="0" i="0" u="none" strike="noStrike" dirty="0">
                        <a:solidFill>
                          <a:srgbClr val="00B05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Credit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394660295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</a:rPr>
                        <a:t>Equity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002060"/>
                          </a:solidFill>
                          <a:effectLst/>
                        </a:rPr>
                        <a:t>Credit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00B0F0"/>
                          </a:solidFill>
                          <a:effectLst/>
                        </a:rPr>
                        <a:t>Debit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939203602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0520246D-37BD-CEC6-FB68-BF93C163697F}"/>
              </a:ext>
            </a:extLst>
          </p:cNvPr>
          <p:cNvSpPr txBox="1"/>
          <p:nvPr/>
        </p:nvSpPr>
        <p:spPr>
          <a:xfrm>
            <a:off x="82100" y="1349731"/>
            <a:ext cx="355711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Example: you receive a refund of $200.00 for an overpaid electric bill. Here is how to enter this transaction properly: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E520CC5-0C8C-94FC-286C-B0D628DE2C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1302491"/>
              </p:ext>
            </p:extLst>
          </p:nvPr>
        </p:nvGraphicFramePr>
        <p:xfrm>
          <a:off x="3549419" y="1423993"/>
          <a:ext cx="1836276" cy="57721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76394">
                  <a:extLst>
                    <a:ext uri="{9D8B030D-6E8A-4147-A177-3AD203B41FA5}">
                      <a16:colId xmlns:a16="http://schemas.microsoft.com/office/drawing/2014/main" val="1785501621"/>
                    </a:ext>
                  </a:extLst>
                </a:gridCol>
                <a:gridCol w="426051">
                  <a:extLst>
                    <a:ext uri="{9D8B030D-6E8A-4147-A177-3AD203B41FA5}">
                      <a16:colId xmlns:a16="http://schemas.microsoft.com/office/drawing/2014/main" val="1150955745"/>
                    </a:ext>
                  </a:extLst>
                </a:gridCol>
                <a:gridCol w="733831">
                  <a:extLst>
                    <a:ext uri="{9D8B030D-6E8A-4147-A177-3AD203B41FA5}">
                      <a16:colId xmlns:a16="http://schemas.microsoft.com/office/drawing/2014/main" val="3231459737"/>
                    </a:ext>
                  </a:extLst>
                </a:gridCol>
              </a:tblGrid>
              <a:tr h="18263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Account</a:t>
                      </a:r>
                      <a:endParaRPr lang="en-US" sz="1200" b="1" i="0" u="none" strike="noStrike" dirty="0">
                        <a:solidFill>
                          <a:srgbClr val="FF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Debit</a:t>
                      </a:r>
                      <a:endParaRPr lang="en-US" sz="1200" b="1" i="0" u="none" strike="noStrike" dirty="0">
                        <a:solidFill>
                          <a:srgbClr val="FF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Credit</a:t>
                      </a:r>
                      <a:endParaRPr lang="en-US" sz="1200" b="1" i="0" u="none" strike="noStrike" dirty="0">
                        <a:solidFill>
                          <a:srgbClr val="FF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472479806"/>
                  </a:ext>
                </a:extLst>
              </a:tr>
              <a:tr h="18263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</a:rPr>
                        <a:t>Cash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00B0F0"/>
                          </a:solidFill>
                          <a:effectLst/>
                        </a:rPr>
                        <a:t>200</a:t>
                      </a:r>
                      <a:endParaRPr lang="en-US" sz="1200" b="0" i="0" u="none" strike="noStrike" dirty="0">
                        <a:solidFill>
                          <a:srgbClr val="00B0F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81189213"/>
                  </a:ext>
                </a:extLst>
              </a:tr>
              <a:tr h="172936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</a:rPr>
                        <a:t>Utilities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00B0F0"/>
                          </a:solidFill>
                          <a:effectLst/>
                        </a:rPr>
                        <a:t>200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722967761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80CFBE1A-5E03-885D-4953-25023C684A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799973"/>
              </p:ext>
            </p:extLst>
          </p:nvPr>
        </p:nvGraphicFramePr>
        <p:xfrm>
          <a:off x="3549419" y="2093579"/>
          <a:ext cx="2230105" cy="108638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424">
                  <a:extLst>
                    <a:ext uri="{9D8B030D-6E8A-4147-A177-3AD203B41FA5}">
                      <a16:colId xmlns:a16="http://schemas.microsoft.com/office/drawing/2014/main" val="1785501621"/>
                    </a:ext>
                  </a:extLst>
                </a:gridCol>
                <a:gridCol w="516835">
                  <a:extLst>
                    <a:ext uri="{9D8B030D-6E8A-4147-A177-3AD203B41FA5}">
                      <a16:colId xmlns:a16="http://schemas.microsoft.com/office/drawing/2014/main" val="1150955745"/>
                    </a:ext>
                  </a:extLst>
                </a:gridCol>
                <a:gridCol w="569846">
                  <a:extLst>
                    <a:ext uri="{9D8B030D-6E8A-4147-A177-3AD203B41FA5}">
                      <a16:colId xmlns:a16="http://schemas.microsoft.com/office/drawing/2014/main" val="3231459737"/>
                    </a:ext>
                  </a:extLst>
                </a:gridCol>
              </a:tblGrid>
              <a:tr h="172617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Account</a:t>
                      </a:r>
                      <a:endParaRPr lang="en-US" sz="1200" b="1" i="0" u="none" strike="noStrike" dirty="0">
                        <a:solidFill>
                          <a:srgbClr val="FF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Debit</a:t>
                      </a:r>
                      <a:endParaRPr lang="en-US" sz="1200" b="1" i="0" u="none" strike="noStrike" dirty="0">
                        <a:solidFill>
                          <a:srgbClr val="FF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Credit</a:t>
                      </a:r>
                      <a:endParaRPr lang="en-US" sz="1200" b="1" i="0" u="none" strike="noStrike" dirty="0">
                        <a:solidFill>
                          <a:srgbClr val="FF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472479806"/>
                  </a:ext>
                </a:extLst>
              </a:tr>
              <a:tr h="172617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1" u="none" strike="noStrike" dirty="0">
                          <a:effectLst/>
                        </a:rPr>
                        <a:t>Transportation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00B0F0"/>
                          </a:solidFill>
                          <a:effectLst/>
                        </a:rPr>
                        <a:t>200</a:t>
                      </a:r>
                      <a:endParaRPr lang="en-US" sz="1200" b="0" i="0" u="none" strike="noStrike" dirty="0">
                        <a:solidFill>
                          <a:srgbClr val="00B0F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81189213"/>
                  </a:ext>
                </a:extLst>
              </a:tr>
              <a:tr h="23385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1" u="none" strike="noStrike" dirty="0">
                          <a:effectLst/>
                        </a:rPr>
                        <a:t>Accommodation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00B0F0"/>
                          </a:solidFill>
                          <a:effectLst/>
                        </a:rPr>
                        <a:t>225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722967761"/>
                  </a:ext>
                </a:extLst>
              </a:tr>
              <a:tr h="23385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PT Sans" panose="020B0503020203020204" pitchFamily="34" charset="77"/>
                        </a:rPr>
                        <a:t>Meals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00B0F0"/>
                          </a:solidFill>
                          <a:effectLst/>
                        </a:rPr>
                        <a:t>75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28539681"/>
                  </a:ext>
                </a:extLst>
              </a:tr>
              <a:tr h="23385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PT Sans" panose="020B0503020203020204" pitchFamily="34" charset="77"/>
                        </a:rPr>
                        <a:t>Cash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00B0F0"/>
                          </a:solidFill>
                          <a:effectLst/>
                        </a:rPr>
                        <a:t>500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958723912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2826694A-37FF-C47C-404B-CB60DCE8263F}"/>
              </a:ext>
            </a:extLst>
          </p:cNvPr>
          <p:cNvSpPr txBox="1"/>
          <p:nvPr/>
        </p:nvSpPr>
        <p:spPr>
          <a:xfrm>
            <a:off x="82099" y="2137521"/>
            <a:ext cx="27525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Example: entering travel expenses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17042B-39C4-1ECD-BBFD-033AACAAE654}"/>
              </a:ext>
            </a:extLst>
          </p:cNvPr>
          <p:cNvSpPr txBox="1"/>
          <p:nvPr/>
        </p:nvSpPr>
        <p:spPr>
          <a:xfrm>
            <a:off x="82100" y="4371926"/>
            <a:ext cx="3557116" cy="243143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Handling Donations:</a:t>
            </a:r>
            <a:endParaRPr lang="en-US" sz="1100" dirty="0">
              <a:hlinkClick r:id="rId2"/>
            </a:endParaRPr>
          </a:p>
          <a:p>
            <a:r>
              <a:rPr lang="en-US" sz="1100" dirty="0">
                <a:hlinkClick r:id="rId2"/>
              </a:rPr>
              <a:t>https://smallbusiness.chron.com/financial-treatment-assets-given-business-426.html</a:t>
            </a:r>
            <a:endParaRPr lang="en-US" sz="1100" dirty="0"/>
          </a:p>
          <a:p>
            <a:endParaRPr lang="en-US" sz="1400" dirty="0"/>
          </a:p>
          <a:p>
            <a:r>
              <a:rPr lang="en-US" sz="1400" dirty="0"/>
              <a:t>Donations – for-profit company: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credit to "Contribution Revenue"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debit to "Fixed Asset"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r>
              <a:rPr lang="en-US" sz="1400" dirty="0"/>
              <a:t>Donations - Not-for-Profit company: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credit to "Unrestricted Contributions"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debit to "Expense"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40113D-E72C-6184-4980-B8ED7F10551C}"/>
              </a:ext>
            </a:extLst>
          </p:cNvPr>
          <p:cNvSpPr txBox="1"/>
          <p:nvPr/>
        </p:nvSpPr>
        <p:spPr>
          <a:xfrm>
            <a:off x="6096000" y="1647221"/>
            <a:ext cx="3685426" cy="3077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Accounts are usually divided into 5 groups: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E1969A-1330-A94B-BB20-855C837E3C53}"/>
              </a:ext>
            </a:extLst>
          </p:cNvPr>
          <p:cNvSpPr txBox="1"/>
          <p:nvPr/>
        </p:nvSpPr>
        <p:spPr>
          <a:xfrm>
            <a:off x="82100" y="560267"/>
            <a:ext cx="355711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Example: you receive $200 from a friend.</a:t>
            </a:r>
          </a:p>
          <a:p>
            <a:r>
              <a:rPr lang="en-US" sz="1400" dirty="0"/>
              <a:t>Friend is a source (credit), your bank account is a destination (debit).</a:t>
            </a: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2133BBD9-18F0-3F8A-5360-409C5A9B9F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6429877"/>
              </p:ext>
            </p:extLst>
          </p:nvPr>
        </p:nvGraphicFramePr>
        <p:xfrm>
          <a:off x="3560402" y="560267"/>
          <a:ext cx="1836276" cy="76009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76394">
                  <a:extLst>
                    <a:ext uri="{9D8B030D-6E8A-4147-A177-3AD203B41FA5}">
                      <a16:colId xmlns:a16="http://schemas.microsoft.com/office/drawing/2014/main" val="1785501621"/>
                    </a:ext>
                  </a:extLst>
                </a:gridCol>
                <a:gridCol w="426051">
                  <a:extLst>
                    <a:ext uri="{9D8B030D-6E8A-4147-A177-3AD203B41FA5}">
                      <a16:colId xmlns:a16="http://schemas.microsoft.com/office/drawing/2014/main" val="1150955745"/>
                    </a:ext>
                  </a:extLst>
                </a:gridCol>
                <a:gridCol w="733831">
                  <a:extLst>
                    <a:ext uri="{9D8B030D-6E8A-4147-A177-3AD203B41FA5}">
                      <a16:colId xmlns:a16="http://schemas.microsoft.com/office/drawing/2014/main" val="3231459737"/>
                    </a:ext>
                  </a:extLst>
                </a:gridCol>
              </a:tblGrid>
              <a:tr h="15566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Account</a:t>
                      </a:r>
                      <a:endParaRPr lang="en-US" sz="1200" b="1" i="0" u="none" strike="noStrike" dirty="0">
                        <a:solidFill>
                          <a:srgbClr val="FF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Debit</a:t>
                      </a:r>
                      <a:endParaRPr lang="en-US" sz="1200" b="1" i="0" u="none" strike="noStrike" dirty="0">
                        <a:solidFill>
                          <a:srgbClr val="FF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Credit</a:t>
                      </a:r>
                      <a:endParaRPr lang="en-US" sz="1200" b="1" i="0" u="none" strike="noStrike" dirty="0">
                        <a:solidFill>
                          <a:srgbClr val="FF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472479806"/>
                  </a:ext>
                </a:extLst>
              </a:tr>
              <a:tr h="15566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</a:rPr>
                        <a:t>Cash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00B0F0"/>
                          </a:solidFill>
                          <a:effectLst/>
                        </a:rPr>
                        <a:t>200</a:t>
                      </a:r>
                      <a:endParaRPr lang="en-US" sz="1200" b="0" i="0" u="none" strike="noStrike" dirty="0">
                        <a:solidFill>
                          <a:srgbClr val="00B0F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81189213"/>
                  </a:ext>
                </a:extLst>
              </a:tr>
              <a:tr h="287485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</a:rPr>
                        <a:t>Liability (friend)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solidFill>
                            <a:srgbClr val="00B0F0"/>
                          </a:solidFill>
                          <a:effectLst/>
                        </a:rPr>
                        <a:t>200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PT Sans" panose="020B0503020203020204" pitchFamily="34" charset="77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722967761"/>
                  </a:ext>
                </a:extLst>
              </a:tr>
            </a:tbl>
          </a:graphicData>
        </a:graphic>
      </p:graphicFrame>
      <p:pic>
        <p:nvPicPr>
          <p:cNvPr id="4" name="Picture 2" descr="Debits and credits in action">
            <a:extLst>
              <a:ext uri="{FF2B5EF4-FFF2-40B4-BE49-F238E27FC236}">
                <a16:creationId xmlns:a16="http://schemas.microsoft.com/office/drawing/2014/main" id="{AF6ADF4E-25E2-79D1-CE16-065D7ED0EB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578186" y="2075815"/>
            <a:ext cx="3519279" cy="37871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B727647-F0CE-F0A1-C9B9-CFB2C4D508ED}"/>
              </a:ext>
            </a:extLst>
          </p:cNvPr>
          <p:cNvSpPr txBox="1"/>
          <p:nvPr/>
        </p:nvSpPr>
        <p:spPr>
          <a:xfrm>
            <a:off x="82096" y="3272337"/>
            <a:ext cx="275254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Example: donation to non-profit</a:t>
            </a:r>
          </a:p>
          <a:p>
            <a:r>
              <a:rPr lang="en-US" sz="1400" dirty="0"/>
              <a:t>(donor pays fees)</a:t>
            </a: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50B22819-BF74-473A-4E01-C0B1793CD0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9713956"/>
              </p:ext>
            </p:extLst>
          </p:nvPr>
        </p:nvGraphicFramePr>
        <p:xfrm>
          <a:off x="2848734" y="3323137"/>
          <a:ext cx="2878270" cy="90280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81866">
                  <a:extLst>
                    <a:ext uri="{9D8B030D-6E8A-4147-A177-3AD203B41FA5}">
                      <a16:colId xmlns:a16="http://schemas.microsoft.com/office/drawing/2014/main" val="3139960542"/>
                    </a:ext>
                  </a:extLst>
                </a:gridCol>
                <a:gridCol w="1295953">
                  <a:extLst>
                    <a:ext uri="{9D8B030D-6E8A-4147-A177-3AD203B41FA5}">
                      <a16:colId xmlns:a16="http://schemas.microsoft.com/office/drawing/2014/main" val="2299812152"/>
                    </a:ext>
                  </a:extLst>
                </a:gridCol>
                <a:gridCol w="445318">
                  <a:extLst>
                    <a:ext uri="{9D8B030D-6E8A-4147-A177-3AD203B41FA5}">
                      <a16:colId xmlns:a16="http://schemas.microsoft.com/office/drawing/2014/main" val="1588065074"/>
                    </a:ext>
                  </a:extLst>
                </a:gridCol>
                <a:gridCol w="455133">
                  <a:extLst>
                    <a:ext uri="{9D8B030D-6E8A-4147-A177-3AD203B41FA5}">
                      <a16:colId xmlns:a16="http://schemas.microsoft.com/office/drawing/2014/main" val="1922127822"/>
                    </a:ext>
                  </a:extLst>
                </a:gridCol>
              </a:tblGrid>
              <a:tr h="267984">
                <a:tc>
                  <a:txBody>
                    <a:bodyPr/>
                    <a:lstStyle/>
                    <a:p>
                      <a:pPr algn="l" fontAlgn="t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Account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Debit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Credit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extLst>
                  <a:ext uri="{0D108BD9-81ED-4DB2-BD59-A6C34878D82A}">
                    <a16:rowId xmlns:a16="http://schemas.microsoft.com/office/drawing/2014/main" val="4197836727"/>
                  </a:ext>
                </a:extLst>
              </a:tr>
              <a:tr h="211606"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 u="none" strike="noStrike" dirty="0">
                          <a:effectLst/>
                        </a:rPr>
                        <a:t>Assets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 u="none" strike="noStrike" dirty="0">
                          <a:effectLst/>
                        </a:rPr>
                        <a:t>Chase Bank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 u="none" strike="noStrike" dirty="0">
                          <a:solidFill>
                            <a:srgbClr val="00B0F0"/>
                          </a:solidFill>
                          <a:effectLst/>
                        </a:rPr>
                        <a:t>1,000</a:t>
                      </a:r>
                      <a:r>
                        <a:rPr lang="en-US" sz="1200" u="none" strike="noStrike" dirty="0">
                          <a:effectLst/>
                        </a:rPr>
                        <a:t> 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l" fontAlgn="t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extLst>
                  <a:ext uri="{0D108BD9-81ED-4DB2-BD59-A6C34878D82A}">
                    <a16:rowId xmlns:a16="http://schemas.microsoft.com/office/drawing/2014/main" val="3920618123"/>
                  </a:ext>
                </a:extLst>
              </a:tr>
              <a:tr h="211606"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 u="none" strike="noStrike" dirty="0" err="1">
                          <a:effectLst/>
                        </a:rPr>
                        <a:t>Expese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 u="none" strike="noStrike" dirty="0">
                          <a:effectLst/>
                        </a:rPr>
                        <a:t>Tran. Fees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 u="none" strike="noStrike" dirty="0">
                          <a:solidFill>
                            <a:srgbClr val="00B0F0"/>
                          </a:solidFill>
                          <a:effectLst/>
                        </a:rPr>
                        <a:t>50</a:t>
                      </a:r>
                      <a:r>
                        <a:rPr lang="en-US" sz="1200" u="none" strike="noStrike" dirty="0">
                          <a:effectLst/>
                        </a:rPr>
                        <a:t> 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l" fontAlgn="t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extLst>
                  <a:ext uri="{0D108BD9-81ED-4DB2-BD59-A6C34878D82A}">
                    <a16:rowId xmlns:a16="http://schemas.microsoft.com/office/drawing/2014/main" val="3908239718"/>
                  </a:ext>
                </a:extLst>
              </a:tr>
              <a:tr h="211606"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 u="none" strike="noStrike" dirty="0">
                          <a:effectLst/>
                        </a:rPr>
                        <a:t>Revenue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 u="none" strike="noStrike" dirty="0">
                          <a:effectLst/>
                        </a:rPr>
                        <a:t>Crypto Donations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l" fontAlgn="t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 u="none" strike="noStrike" dirty="0">
                          <a:solidFill>
                            <a:srgbClr val="00B0F0"/>
                          </a:solidFill>
                          <a:effectLst/>
                        </a:rPr>
                        <a:t>1,050 </a:t>
                      </a:r>
                      <a:endParaRPr lang="en-US" sz="1200" b="0" i="0" u="none" strike="noStrike" dirty="0">
                        <a:solidFill>
                          <a:srgbClr val="00B0F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extLst>
                  <a:ext uri="{0D108BD9-81ED-4DB2-BD59-A6C34878D82A}">
                    <a16:rowId xmlns:a16="http://schemas.microsoft.com/office/drawing/2014/main" val="29924886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6611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1987</TotalTime>
  <Words>852</Words>
  <Application>Microsoft Macintosh PowerPoint</Application>
  <PresentationFormat>Widescreen</PresentationFormat>
  <Paragraphs>133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Calibri</vt:lpstr>
      <vt:lpstr>Calibri Light</vt:lpstr>
      <vt:lpstr>PT Sans</vt:lpstr>
      <vt:lpstr>Office Theme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Lev Selector</cp:lastModifiedBy>
  <cp:revision>174</cp:revision>
  <dcterms:modified xsi:type="dcterms:W3CDTF">2022-12-11T03:57:26Z</dcterms:modified>
</cp:coreProperties>
</file>