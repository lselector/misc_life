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46"/>
    <p:restoredTop sz="94671"/>
  </p:normalViewPr>
  <p:slideViewPr>
    <p:cSldViewPr snapToGrid="0" snapToObjects="1">
      <p:cViewPr varScale="1">
        <p:scale>
          <a:sx n="137" d="100"/>
          <a:sy n="137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3DA7-9484-AD27-0DE6-406963CE5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6EFD7-1CE7-EB76-AFBA-A2EA97351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8F316-68A5-4C44-D7A1-71F5A1FB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D6DA-4A18-C8E1-539E-66F4B484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EB7A0-95B4-A6BE-BB51-053DAE29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7342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D122-7A89-F82A-D3EB-E0EA8BAD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4A42-160E-5705-8041-DFBBCE29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B77A1-A5EB-12FF-C649-765C2AEB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C994-CD1B-84BA-2F1E-0AA835F3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DBF87-589E-E5F2-C5EC-BCDC6007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102328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BCDC-9D75-7940-3CD3-932BBC6A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30C9D-410A-BEE8-A88D-E8DBCB887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C78FE-864F-8DF4-A504-A0CEE98E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C293-4A32-F2C3-3B48-3460F2AD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E79AE-4A47-AB03-8F6B-00242CCA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820973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3A5A-4430-306B-143C-0ACDA2AC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BA5A-D421-3565-1D32-1CE8D874E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70A9E-FD8C-8224-6C54-CF3A8D382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2F184-9887-706D-67A3-68149E9D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98C7F-A865-810F-72FF-2212703FA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8AFC6-8528-B92D-BA43-6AD060F9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9933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6D7A-78BC-35A0-BEFD-C68E9747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C38ED-038A-2774-486E-812AF6D64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174A7-C04C-53FB-9C48-A912D5EF9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5A628-9C82-065F-922E-FB46CE2FC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7B693-78EE-8A10-C89B-3B05EE9D5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B9DEB-AD76-3739-3935-6D573DB9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21654C-01C3-BF44-7EE3-7EB03918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578F5-494E-2214-76A5-E2A5CCBC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898973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8EE0-DF8F-53FA-308C-C0976675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98274-2844-009C-AF5B-1DB31A99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489E3-5A43-9AB5-FDB4-5E489988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91594-7555-3E0C-52B3-8699B2E1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91716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37235-0D3C-C8EE-7528-6575F7E8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BD32D-EEFF-0F49-2DCD-400C1E9F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E7989-0E71-3D91-4012-3A1EC44D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387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31B9-D3A6-5ED6-4FC0-B741D7B2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10819-C861-02E1-5CFB-FB0C89E4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A5219-8258-CCB9-3AC9-906B854FC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FA484-4D56-6DE5-7095-8AD5971A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5B46-5804-25BD-2F37-010C9509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33345-166C-263A-0614-C1B55750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312193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4DDF-F647-C3CC-10C2-0F8FBDF1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88CF9-F616-42F9-4912-F3BEB93FB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06BE9-37B4-50C9-1952-C3DD89325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06B8D-C40F-AAF0-FEAC-EAA766AB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E5861-26A8-5173-4D6B-933D2BD2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D5636-4301-F3B2-410E-0BAD3635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87231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3627-C0CA-E9DD-49CC-809F93A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60488-ED1D-6B26-C549-D74DADCD0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2CC6B-0ECE-CED9-2F0B-5A7B8650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5E570-E8B3-1C29-E50B-07DAB82C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EB990-6B52-0332-5BA9-4AC714F2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219995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35702-50B2-3BAF-6C8F-C1903147D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FB6E0-E85D-E908-FCA1-8DEC56B95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73A8F-8FDF-A8A8-48BE-4D303069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D65E-E2EE-04C9-25FD-518C2492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5AF57-AFD9-7641-A536-4D59B547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745925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49680-6DB2-11F1-CC9A-A88511EE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E77BF-8F2E-1D73-FAEA-12EAB086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5A688-64BF-A033-176C-B70666E9E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F4884-D800-C04E-BD57-A34AD4860084}" type="datetimeFigureOut">
              <a:t>5/25/22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47260-F4AE-7E55-C834-369BE510A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073A-A191-648E-274C-EA4287474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41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omedepot.com/p/Ashley-Hearth-Products-3-200-sq-ft-EPA-Certified-Pedestal-Wood-Burning-Stove-with-Blower-AW3200E-P/313742319" TargetMode="External"/><Relationship Id="rId3" Type="http://schemas.openxmlformats.org/officeDocument/2006/relationships/hyperlink" Target="https://www.popularmechanics.com/home/g37791189/best-wood-stoves/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www.drolet.ca/en/products/stove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ouzz.com/cost/70-wood-stove-installation-cost" TargetMode="External"/><Relationship Id="rId5" Type="http://schemas.openxmlformats.org/officeDocument/2006/relationships/hyperlink" Target="https://homeguide.com/costs/wood-stove-installation-cost" TargetMode="External"/><Relationship Id="rId4" Type="http://schemas.openxmlformats.org/officeDocument/2006/relationships/hyperlink" Target="https://myfireplaceproducts.com/us_en/ht-3000-wood-stove-db073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iGZWx0gwRCo" TargetMode="External"/><Relationship Id="rId3" Type="http://schemas.openxmlformats.org/officeDocument/2006/relationships/hyperlink" Target="https://www.youtube.com/watch?v=yPtVhpHXg0E" TargetMode="External"/><Relationship Id="rId7" Type="http://schemas.openxmlformats.org/officeDocument/2006/relationships/hyperlink" Target="https://www.youtube.com/watch?v=6uuhrdmfnqo" TargetMode="External"/><Relationship Id="rId2" Type="http://schemas.openxmlformats.org/officeDocument/2006/relationships/hyperlink" Target="https://www.youtube.com/watch?v=Df-sVM-hxr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Zd-93HLnkb4" TargetMode="External"/><Relationship Id="rId5" Type="http://schemas.openxmlformats.org/officeDocument/2006/relationships/hyperlink" Target="https://www.youtube.com/watch?v=5oledpf2ocU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www.youtube.com/watch?v=_DajfQQN7qM" TargetMode="External"/><Relationship Id="rId9" Type="http://schemas.openxmlformats.org/officeDocument/2006/relationships/hyperlink" Target="https://www.youtube.com/watch?v=IqJehn5mb9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C363-7627-6402-F57E-1B785C4DA2A1}"/>
              </a:ext>
            </a:extLst>
          </p:cNvPr>
          <p:cNvSpPr txBox="1"/>
          <p:nvPr/>
        </p:nvSpPr>
        <p:spPr>
          <a:xfrm>
            <a:off x="0" y="0"/>
            <a:ext cx="3359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Wood Burning Stove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D246B-C6D4-845C-1A20-2ADB2087AB1D}"/>
              </a:ext>
            </a:extLst>
          </p:cNvPr>
          <p:cNvSpPr txBox="1"/>
          <p:nvPr/>
        </p:nvSpPr>
        <p:spPr>
          <a:xfrm>
            <a:off x="126832" y="694313"/>
            <a:ext cx="51542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Our property ~3K sqft (2K livable+1K basement). </a:t>
            </a:r>
            <a:br>
              <a:rPr lang="en-US" sz="1400"/>
            </a:br>
            <a:r>
              <a:rPr lang="en-US" sz="1400"/>
              <a:t>Suitable model at Home Depot: Ashley Hearth 3200</a:t>
            </a:r>
            <a:br>
              <a:rPr lang="en-US" sz="1400"/>
            </a:br>
            <a:r>
              <a:rPr lang="en-US" sz="1400"/>
              <a:t>(number "3200"  means "area 32000 sqft")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is very good, has window to look at fire, </a:t>
            </a:r>
            <a:br>
              <a:rPr lang="en-US" sz="1400"/>
            </a:br>
            <a:r>
              <a:rPr lang="en-US" sz="1400"/>
              <a:t>big (accepts 22" logs)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 Canada they like another brand - "DROLET":</a:t>
            </a:r>
            <a:br>
              <a:rPr lang="en-US" sz="1400"/>
            </a:br>
            <a:r>
              <a:rPr lang="en-US" sz="1400"/>
              <a:t> .. </a:t>
            </a:r>
            <a:r>
              <a:rPr lang="en-US" sz="1400">
                <a:hlinkClick r:id="rId2"/>
              </a:rPr>
              <a:t>https://www.drolet.ca/en/products/stoves/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Other examples: </a:t>
            </a:r>
            <a:br>
              <a:rPr lang="en-US" sz="1400"/>
            </a:br>
            <a:r>
              <a:rPr lang="en-US" sz="1400"/>
              <a:t> .. </a:t>
            </a:r>
            <a:r>
              <a:rPr lang="en-US" sz="1400">
                <a:hlinkClick r:id="rId3"/>
              </a:rPr>
              <a:t>https://www.popularmechanics.com/home/g37791189/best-wood-stoves/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Many stores, for example:</a:t>
            </a:r>
            <a:br>
              <a:rPr lang="en-US" sz="1400"/>
            </a:br>
            <a:r>
              <a:rPr lang="en-US" sz="1400"/>
              <a:t> .. </a:t>
            </a:r>
            <a:r>
              <a:rPr lang="en-US" sz="1400">
                <a:hlinkClick r:id="rId4"/>
              </a:rPr>
              <a:t>https://myfireplaceproducts.com/us_en/ht-3000-wood-stove-db07300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==============================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Installation cost typically $1,000 - $3000 (depends on how much ventilation work is needed)</a:t>
            </a:r>
            <a:br>
              <a:rPr lang="en-US" sz="1400"/>
            </a:br>
            <a:r>
              <a:rPr lang="en-US" sz="1400"/>
              <a:t> .. </a:t>
            </a:r>
            <a:r>
              <a:rPr lang="en-US" sz="1400">
                <a:hlinkClick r:id="rId5"/>
              </a:rPr>
              <a:t>https://homeguide.com/costs/wood-stove-installation-cost</a:t>
            </a:r>
            <a:br>
              <a:rPr lang="en-US" sz="1400"/>
            </a:br>
            <a:r>
              <a:rPr lang="en-US" sz="1400"/>
              <a:t> .. </a:t>
            </a:r>
            <a:r>
              <a:rPr lang="en-US" sz="1400">
                <a:hlinkClick r:id="rId6"/>
              </a:rPr>
              <a:t>https://www.houzz.com/cost/70-wood-stove-installation-cost</a:t>
            </a:r>
            <a:endParaRPr lang="en-US" sz="1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CD50D3-D584-3517-B607-4C33D764E6B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7453" y="102989"/>
            <a:ext cx="1736790" cy="19868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3B7059-C602-DCB2-0FC1-74088646F673}"/>
              </a:ext>
            </a:extLst>
          </p:cNvPr>
          <p:cNvSpPr txBox="1"/>
          <p:nvPr/>
        </p:nvSpPr>
        <p:spPr>
          <a:xfrm>
            <a:off x="5412403" y="2332077"/>
            <a:ext cx="3806890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Ashley Hearth 3200 </a:t>
            </a:r>
          </a:p>
          <a:p>
            <a:r>
              <a:rPr lang="en-US" sz="1400"/>
              <a:t>Model: AW3200E-P</a:t>
            </a:r>
          </a:p>
          <a:p>
            <a:r>
              <a:rPr lang="en-US" sz="1400"/>
              <a:t>    $2,255 AT HOME DEPOT</a:t>
            </a:r>
          </a:p>
          <a:p>
            <a:r>
              <a:rPr lang="en-US" sz="1400"/>
              <a:t>    (plus 200 tax, 100 delivery, 2,000 install)</a:t>
            </a:r>
            <a:br>
              <a:rPr lang="en-US" sz="1400"/>
            </a:br>
            <a:r>
              <a:rPr lang="en-US" sz="1400"/>
              <a:t>    Total - $4,600</a:t>
            </a:r>
          </a:p>
          <a:p>
            <a:r>
              <a:rPr lang="en-US" sz="1400"/>
              <a:t>Heating Area: 3,200 sq. ft.</a:t>
            </a:r>
          </a:p>
          <a:p>
            <a:r>
              <a:rPr lang="en-US" sz="1400"/>
              <a:t>BTU: 152,000</a:t>
            </a:r>
          </a:p>
          <a:p>
            <a:r>
              <a:rPr lang="en-US" sz="1400"/>
              <a:t>Weight: 400 pounds</a:t>
            </a:r>
          </a:p>
          <a:p>
            <a:r>
              <a:rPr lang="en-US" sz="1400"/>
              <a:t>Max Log Length: 22 inches</a:t>
            </a:r>
            <a:br>
              <a:rPr lang="en-US" sz="1400"/>
            </a:br>
            <a:r>
              <a:rPr lang="en-US" sz="1400"/>
              <a:t>Non-catalytic</a:t>
            </a:r>
            <a:endParaRPr lang="en-US" sz="1100"/>
          </a:p>
          <a:p>
            <a:r>
              <a:rPr lang="en-US" sz="1100">
                <a:hlinkClick r:id="rId8"/>
              </a:rPr>
              <a:t>https://www.homedepot.com/p/Ashley-Hearth-Products-3-200-sq-ft-EPA-Certified-Pedestal-Wood-Burning-Stove-with-Blower-AW3200E-P/313742319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4153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AA915C-30B5-5D69-9545-64416094CB66}"/>
              </a:ext>
            </a:extLst>
          </p:cNvPr>
          <p:cNvSpPr txBox="1"/>
          <p:nvPr/>
        </p:nvSpPr>
        <p:spPr>
          <a:xfrm>
            <a:off x="46653" y="523220"/>
            <a:ext cx="78750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Five Best Wood Burning Stoves - </a:t>
            </a:r>
            <a:r>
              <a:rPr lang="en-US" sz="1400">
                <a:hlinkClick r:id="rId2"/>
              </a:rPr>
              <a:t>https://www.youtube.com/watch?v=Df-sVM-hxrE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Cast Iron Vs Steel Wood Burning stoves - </a:t>
            </a:r>
            <a:r>
              <a:rPr lang="en-US" sz="1400">
                <a:hlinkClick r:id="rId3"/>
              </a:rPr>
              <a:t>https://www.youtube.com/watch?v=yPtVhpHXg0E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Catalytic vs Non Catalytic Wood Stove - </a:t>
            </a:r>
            <a:r>
              <a:rPr lang="en-US" sz="1400">
                <a:hlinkClick r:id="rId4"/>
              </a:rPr>
              <a:t>https://www.youtube.com/watch?v=_DajfQQN7qM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A catalytic combustor = metal grid with special catalytic coating that helps to re-burn</a:t>
            </a:r>
            <a:br>
              <a:rPr lang="en-US" sz="1400"/>
            </a:br>
            <a:r>
              <a:rPr lang="en-US" sz="1400"/>
              <a:t>the gasses and particulates. It increases efficiency, fewer emissions, longer burn times (30+ hrs)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How to Run an Overnight Burn - </a:t>
            </a:r>
            <a:r>
              <a:rPr lang="en-US" sz="1400">
                <a:hlinkClick r:id="rId5"/>
              </a:rPr>
              <a:t>https://www.youtube.com/watch?v=5oledpf2ocU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Stove Fans - </a:t>
            </a:r>
            <a:r>
              <a:rPr lang="en-US" sz="1400">
                <a:hlinkClick r:id="rId6"/>
              </a:rPr>
              <a:t>https://www.youtube.com/watch?v=Zd-93HLnkb4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Woodstove DIY - </a:t>
            </a:r>
            <a:r>
              <a:rPr lang="en-US" sz="1400">
                <a:hlinkClick r:id="rId7"/>
              </a:rPr>
              <a:t>https://www.youtube.com/watch?v=6uuhrdmfnqo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3 ways I improved efficiency - </a:t>
            </a:r>
            <a:r>
              <a:rPr lang="en-US" sz="1400">
                <a:hlinkClick r:id="rId8"/>
              </a:rPr>
              <a:t>https://www.youtube.com/watch?v=iGZWx0gwRCo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Vermont Castings wood stoves - </a:t>
            </a:r>
            <a:r>
              <a:rPr lang="en-US" sz="1400">
                <a:hlinkClick r:id="rId9"/>
              </a:rPr>
              <a:t>https://www.youtube.com/watch?v=IqJehn5mb9k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7C9B7-CD00-B2B3-3132-EF7ABFC7EC6E}"/>
              </a:ext>
            </a:extLst>
          </p:cNvPr>
          <p:cNvSpPr txBox="1"/>
          <p:nvPr/>
        </p:nvSpPr>
        <p:spPr>
          <a:xfrm>
            <a:off x="-1" y="0"/>
            <a:ext cx="752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Learn more about Wood Burning Stoves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E3939-E140-B4A4-1AB2-36D85D4D3783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810" y="2954510"/>
            <a:ext cx="7950380" cy="210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45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426</Words>
  <Application>Microsoft Macintosh PowerPoint</Application>
  <PresentationFormat>On-screen Show (16:9)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9</cp:revision>
  <dcterms:modified xsi:type="dcterms:W3CDTF">2022-05-25T23:19:39Z</dcterms:modified>
</cp:coreProperties>
</file>